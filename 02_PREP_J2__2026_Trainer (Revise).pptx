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7" r:id="rId2"/>
    <p:sldId id="258" r:id="rId3"/>
    <p:sldId id="394" r:id="rId4"/>
    <p:sldId id="320" r:id="rId5"/>
    <p:sldId id="321" r:id="rId6"/>
    <p:sldId id="323" r:id="rId7"/>
    <p:sldId id="324" r:id="rId8"/>
    <p:sldId id="325" r:id="rId9"/>
    <p:sldId id="413" r:id="rId10"/>
    <p:sldId id="395" r:id="rId11"/>
    <p:sldId id="329" r:id="rId12"/>
    <p:sldId id="334" r:id="rId13"/>
    <p:sldId id="330" r:id="rId14"/>
    <p:sldId id="331" r:id="rId15"/>
    <p:sldId id="332" r:id="rId16"/>
    <p:sldId id="333" r:id="rId17"/>
    <p:sldId id="396" r:id="rId18"/>
    <p:sldId id="341" r:id="rId19"/>
    <p:sldId id="342" r:id="rId20"/>
    <p:sldId id="343" r:id="rId21"/>
    <p:sldId id="344" r:id="rId22"/>
    <p:sldId id="345" r:id="rId23"/>
    <p:sldId id="346" r:id="rId24"/>
    <p:sldId id="402" r:id="rId25"/>
    <p:sldId id="403" r:id="rId26"/>
    <p:sldId id="363" r:id="rId27"/>
    <p:sldId id="397" r:id="rId28"/>
    <p:sldId id="353" r:id="rId29"/>
    <p:sldId id="372" r:id="rId30"/>
    <p:sldId id="373" r:id="rId31"/>
    <p:sldId id="370" r:id="rId32"/>
    <p:sldId id="384" r:id="rId33"/>
    <p:sldId id="399" r:id="rId34"/>
    <p:sldId id="374" r:id="rId35"/>
    <p:sldId id="376" r:id="rId36"/>
    <p:sldId id="377" r:id="rId37"/>
    <p:sldId id="414" r:id="rId38"/>
    <p:sldId id="398" r:id="rId39"/>
    <p:sldId id="380" r:id="rId40"/>
    <p:sldId id="382" r:id="rId41"/>
    <p:sldId id="387" r:id="rId42"/>
    <p:sldId id="386" r:id="rId43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131FD"/>
    <a:srgbClr val="FFD9FF"/>
    <a:srgbClr val="E27AFE"/>
    <a:srgbClr val="ECACFE"/>
    <a:srgbClr val="ECD9FF"/>
    <a:srgbClr val="E0C1FF"/>
    <a:srgbClr val="FF66CC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91" autoAdjust="0"/>
    <p:restoredTop sz="95974" autoAdjust="0"/>
  </p:normalViewPr>
  <p:slideViewPr>
    <p:cSldViewPr snapToGrid="0">
      <p:cViewPr varScale="1">
        <p:scale>
          <a:sx n="94" d="100"/>
          <a:sy n="94" d="100"/>
        </p:scale>
        <p:origin x="96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9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06E-48E9-BB8A-30604DE9380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06E-48E9-BB8A-30604DE93802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06E-48E9-BB8A-30604DE9380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Verbal</c:v>
                </c:pt>
                <c:pt idx="1">
                  <c:v>Voice</c:v>
                </c:pt>
                <c:pt idx="2">
                  <c:v>Visual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0.38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A5-4626-A9B2-D07E721986C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842845-81D8-4DCD-A796-659934E05274}" type="doc">
      <dgm:prSet loTypeId="urn:microsoft.com/office/officeart/2005/8/layout/radial6" loCatId="cycle" qsTypeId="urn:microsoft.com/office/officeart/2005/8/quickstyle/simple5#2" qsCatId="simple" csTypeId="urn:microsoft.com/office/officeart/2005/8/colors/colorful3#2" csCatId="colorful" phldr="1"/>
      <dgm:spPr/>
      <dgm:t>
        <a:bodyPr/>
        <a:lstStyle/>
        <a:p>
          <a:endParaRPr lang="en-US"/>
        </a:p>
      </dgm:t>
    </dgm:pt>
    <dgm:pt modelId="{777CF002-0135-4E7B-9FE7-077EF03302F9}">
      <dgm:prSet phldrT="[Text]" custT="1"/>
      <dgm:spPr/>
      <dgm:t>
        <a:bodyPr/>
        <a:lstStyle/>
        <a:p>
          <a:r>
            <a:rPr lang="en-US" sz="2000" dirty="0">
              <a:cs typeface="+mn-cs"/>
            </a:rPr>
            <a:t>Compliance</a:t>
          </a:r>
        </a:p>
      </dgm:t>
    </dgm:pt>
    <dgm:pt modelId="{2674E952-6ADD-46EB-9945-DE9E73230878}" type="parTrans" cxnId="{B4BDA558-8B9B-4A4F-A6EE-14862C6EAF40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A2DC7D9C-2C4A-4EDF-926E-7F1FBDA49216}" type="sibTrans" cxnId="{B4BDA558-8B9B-4A4F-A6EE-14862C6EAF40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536B5EE1-22C1-48E5-8AD2-50AD0D4BF3CE}">
      <dgm:prSet phldrT="[Text]" custT="1"/>
      <dgm:spPr/>
      <dgm:t>
        <a:bodyPr lIns="0" tIns="0" rIns="0" bIns="0"/>
        <a:lstStyle/>
        <a:p>
          <a:r>
            <a:rPr lang="en-US" altLang="ja-JP" sz="2000" dirty="0">
              <a:latin typeface="Angsana New" pitchFamily="18" charset="-34"/>
              <a:ea typeface="MS PGothic" pitchFamily="34" charset="-128"/>
              <a:cs typeface="+mn-cs"/>
            </a:rPr>
            <a:t>1. </a:t>
          </a:r>
          <a:r>
            <a:rPr lang="th-TH" altLang="ja-JP" sz="2000" dirty="0">
              <a:latin typeface="Angsana New" pitchFamily="18" charset="-34"/>
              <a:cs typeface="+mn-cs"/>
            </a:rPr>
            <a:t>การปฏิบัติตามกฎหมายและจริยธรรมบริษัท</a:t>
          </a:r>
          <a:endParaRPr lang="en-US" sz="2000" dirty="0">
            <a:cs typeface="+mn-cs"/>
          </a:endParaRPr>
        </a:p>
      </dgm:t>
    </dgm:pt>
    <dgm:pt modelId="{1348E4E5-23ED-407A-AE2F-1DC4436D6E60}" type="parTrans" cxnId="{3708760D-1792-4C9C-A202-7C74AF7E999A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08727125-EDC8-4B40-8B0F-EB1ED785270C}" type="sibTrans" cxnId="{3708760D-1792-4C9C-A202-7C74AF7E999A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730DE23B-0885-4419-B76A-D9FECE1E808B}">
      <dgm:prSet phldrT="[Text]" custT="1"/>
      <dgm:spPr/>
      <dgm:t>
        <a:bodyPr lIns="0" tIns="0" rIns="0" bIns="0"/>
        <a:lstStyle/>
        <a:p>
          <a:r>
            <a:rPr lang="en-US" altLang="ja-JP" sz="2000" dirty="0">
              <a:latin typeface="Angsana New" pitchFamily="18" charset="-34"/>
              <a:ea typeface="MS PGothic" pitchFamily="34" charset="-128"/>
              <a:cs typeface="+mn-cs"/>
            </a:rPr>
            <a:t>2.</a:t>
          </a:r>
          <a:r>
            <a:rPr lang="th-TH" altLang="ja-JP" sz="2000" dirty="0">
              <a:latin typeface="Angsana New" pitchFamily="18" charset="-34"/>
              <a:cs typeface="+mn-cs"/>
            </a:rPr>
            <a:t> การควบคุมดูแลทรัพย์สินของบริษัท</a:t>
          </a:r>
          <a:r>
            <a:rPr lang="en-US" altLang="ja-JP" sz="2000" dirty="0">
              <a:latin typeface="Angsana New" pitchFamily="18" charset="-34"/>
              <a:ea typeface="MS PGothic" pitchFamily="34" charset="-128"/>
              <a:cs typeface="+mn-cs"/>
            </a:rPr>
            <a:t>  </a:t>
          </a:r>
          <a:endParaRPr lang="en-US" sz="2000" dirty="0">
            <a:cs typeface="+mn-cs"/>
          </a:endParaRPr>
        </a:p>
      </dgm:t>
    </dgm:pt>
    <dgm:pt modelId="{210BD013-F8B8-41F6-9AA7-7FE512E91CEF}" type="parTrans" cxnId="{CEC75302-E20A-4253-A606-E5194FADB699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BEB7359A-6AC1-4613-AB29-2A15D3F56473}" type="sibTrans" cxnId="{CEC75302-E20A-4253-A606-E5194FADB699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634644CA-8029-4C6D-97E4-4BCE64ACD99A}">
      <dgm:prSet phldrT="[Text]" custT="1"/>
      <dgm:spPr/>
      <dgm:t>
        <a:bodyPr lIns="0" tIns="0" rIns="0" bIns="0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ja-JP" sz="2000">
              <a:latin typeface="Angsana New" pitchFamily="18" charset="-34"/>
              <a:ea typeface="MS PGothic" pitchFamily="34" charset="-128"/>
              <a:cs typeface="+mn-cs"/>
            </a:rPr>
            <a:t>3.</a:t>
          </a:r>
          <a:r>
            <a:rPr lang="th-TH" altLang="ja-JP" sz="2000">
              <a:latin typeface="Angsana New" pitchFamily="18" charset="-34"/>
              <a:cs typeface="+mn-cs"/>
            </a:rPr>
            <a:t> การจัดการข้อมูล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th-TH" altLang="ja-JP" sz="2000">
              <a:latin typeface="Angsana New" pitchFamily="18" charset="-34"/>
              <a:ea typeface="MS PGothic" pitchFamily="34" charset="-128"/>
              <a:cs typeface="+mn-cs"/>
            </a:rPr>
            <a:t>ข่าวสาร</a:t>
          </a:r>
          <a:r>
            <a:rPr lang="en-US" altLang="ja-JP" sz="2000">
              <a:latin typeface="Angsana New" pitchFamily="18" charset="-34"/>
              <a:ea typeface="MS PGothic" pitchFamily="34" charset="-128"/>
              <a:cs typeface="+mn-cs"/>
            </a:rPr>
            <a:t>  </a:t>
          </a:r>
          <a:endParaRPr lang="en-US" sz="2000" dirty="0">
            <a:cs typeface="+mn-cs"/>
          </a:endParaRPr>
        </a:p>
      </dgm:t>
    </dgm:pt>
    <dgm:pt modelId="{C5EF4029-6006-440E-9EEF-2A9F34395DC8}" type="parTrans" cxnId="{33CFE031-AD1C-4CA9-B48C-712FAC1C49C4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329981D0-8FA0-4BBF-A0C1-DEB0B194B433}" type="sibTrans" cxnId="{33CFE031-AD1C-4CA9-B48C-712FAC1C49C4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824A1D3C-F64D-49FF-92F3-50AB5509F593}">
      <dgm:prSet phldrT="[Text]" custT="1"/>
      <dgm:spPr/>
      <dgm:t>
        <a:bodyPr lIns="0" tIns="0" rIns="0" bIns="0"/>
        <a:lstStyle/>
        <a:p>
          <a:r>
            <a:rPr lang="en-US" altLang="ja-JP" sz="2000">
              <a:latin typeface="Angsana New" pitchFamily="18" charset="-34"/>
              <a:ea typeface="MS PGothic" pitchFamily="34" charset="-128"/>
              <a:cs typeface="+mn-cs"/>
            </a:rPr>
            <a:t>5.</a:t>
          </a:r>
          <a:r>
            <a:rPr lang="th-TH" altLang="ja-JP" sz="2000">
              <a:latin typeface="Angsana New" pitchFamily="18" charset="-34"/>
              <a:cs typeface="+mn-cs"/>
            </a:rPr>
            <a:t> การบำรุงรักษาและการปรับปรุงสภาพแวดล้อมในสถานที่ทำงาน</a:t>
          </a:r>
          <a:endParaRPr lang="en-US" sz="2000" dirty="0">
            <a:cs typeface="+mn-cs"/>
          </a:endParaRPr>
        </a:p>
      </dgm:t>
    </dgm:pt>
    <dgm:pt modelId="{E5652BF4-D470-4E29-9AB3-65023FBAD2B4}" type="parTrans" cxnId="{8F91D6BE-6987-4009-8104-D00B3D87097C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79E86169-D13B-4473-9EA1-B05926B92DCC}" type="sibTrans" cxnId="{8F91D6BE-6987-4009-8104-D00B3D87097C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5FC79424-4C87-4488-B7BD-FE2272F0B04F}">
      <dgm:prSet phldrT="[Text]" custT="1"/>
      <dgm:spPr/>
      <dgm:t>
        <a:bodyPr lIns="0" tIns="0" rIns="0" bIns="0"/>
        <a:lstStyle/>
        <a:p>
          <a:r>
            <a:rPr lang="en-US" altLang="ja-JP" sz="1800" dirty="0">
              <a:latin typeface="Angsana New" pitchFamily="18" charset="-34"/>
              <a:ea typeface="MS PGothic" pitchFamily="34" charset="-128"/>
              <a:cs typeface="+mn-cs"/>
            </a:rPr>
            <a:t>4.</a:t>
          </a:r>
          <a:r>
            <a:rPr lang="th-TH" altLang="ja-JP" sz="1800" dirty="0">
              <a:latin typeface="Angsana New" pitchFamily="18" charset="-34"/>
              <a:cs typeface="+mn-cs"/>
            </a:rPr>
            <a:t> ความขัดแย้งทางผลประโยชน์</a:t>
          </a:r>
          <a:r>
            <a:rPr lang="en-US" altLang="ja-JP" sz="1800" dirty="0">
              <a:latin typeface="Angsana New" pitchFamily="18" charset="-34"/>
              <a:ea typeface="MS PGothic" pitchFamily="34" charset="-128"/>
              <a:cs typeface="+mn-cs"/>
            </a:rPr>
            <a:t> / </a:t>
          </a:r>
          <a:r>
            <a:rPr lang="th-TH" altLang="ja-JP" sz="1800" dirty="0">
              <a:latin typeface="Angsana New" pitchFamily="18" charset="-34"/>
              <a:cs typeface="+mn-cs"/>
            </a:rPr>
            <a:t>การแยกแยะระหว่างเรื่องงานและเรื่องส่วนตัว</a:t>
          </a:r>
          <a:endParaRPr lang="en-US" sz="1800" dirty="0">
            <a:cs typeface="+mn-cs"/>
          </a:endParaRPr>
        </a:p>
      </dgm:t>
    </dgm:pt>
    <dgm:pt modelId="{03B4F496-9091-4971-8691-87144478A7A5}" type="parTrans" cxnId="{9266B822-96F8-448D-A0CB-941B515E1042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9E06731B-4965-4A25-8F7E-0CBAA046F40A}" type="sibTrans" cxnId="{9266B822-96F8-448D-A0CB-941B515E1042}">
      <dgm:prSet/>
      <dgm:spPr/>
      <dgm:t>
        <a:bodyPr/>
        <a:lstStyle/>
        <a:p>
          <a:endParaRPr lang="en-US" sz="4800">
            <a:solidFill>
              <a:srgbClr val="0000FF"/>
            </a:solidFill>
            <a:cs typeface="+mn-cs"/>
          </a:endParaRPr>
        </a:p>
      </dgm:t>
    </dgm:pt>
    <dgm:pt modelId="{04493531-95D1-4924-A654-BD2C57D1D6B5}" type="pres">
      <dgm:prSet presAssocID="{5A842845-81D8-4DCD-A796-659934E0527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E25335E-CBC4-4FC2-8442-EE1238D074C3}" type="pres">
      <dgm:prSet presAssocID="{777CF002-0135-4E7B-9FE7-077EF03302F9}" presName="centerShape" presStyleLbl="node0" presStyleIdx="0" presStyleCnt="1"/>
      <dgm:spPr/>
    </dgm:pt>
    <dgm:pt modelId="{BC34623D-78E4-454E-A36A-F85433A0318A}" type="pres">
      <dgm:prSet presAssocID="{536B5EE1-22C1-48E5-8AD2-50AD0D4BF3CE}" presName="node" presStyleLbl="node1" presStyleIdx="0" presStyleCnt="5" custScaleX="128595">
        <dgm:presLayoutVars>
          <dgm:bulletEnabled val="1"/>
        </dgm:presLayoutVars>
      </dgm:prSet>
      <dgm:spPr/>
    </dgm:pt>
    <dgm:pt modelId="{DD0C43DA-1877-4708-A5DE-6F00311A0119}" type="pres">
      <dgm:prSet presAssocID="{536B5EE1-22C1-48E5-8AD2-50AD0D4BF3CE}" presName="dummy" presStyleCnt="0"/>
      <dgm:spPr/>
    </dgm:pt>
    <dgm:pt modelId="{B6A0848B-E1F8-47DF-997A-F8D82BE44AEF}" type="pres">
      <dgm:prSet presAssocID="{08727125-EDC8-4B40-8B0F-EB1ED785270C}" presName="sibTrans" presStyleLbl="sibTrans2D1" presStyleIdx="0" presStyleCnt="5"/>
      <dgm:spPr/>
    </dgm:pt>
    <dgm:pt modelId="{5661D913-EB68-4749-969D-F584B159A5A3}" type="pres">
      <dgm:prSet presAssocID="{730DE23B-0885-4419-B76A-D9FECE1E808B}" presName="node" presStyleLbl="node1" presStyleIdx="1" presStyleCnt="5" custScaleX="128595">
        <dgm:presLayoutVars>
          <dgm:bulletEnabled val="1"/>
        </dgm:presLayoutVars>
      </dgm:prSet>
      <dgm:spPr/>
    </dgm:pt>
    <dgm:pt modelId="{DAFA1010-FF87-45FE-8C22-45276F72468D}" type="pres">
      <dgm:prSet presAssocID="{730DE23B-0885-4419-B76A-D9FECE1E808B}" presName="dummy" presStyleCnt="0"/>
      <dgm:spPr/>
    </dgm:pt>
    <dgm:pt modelId="{883F04C6-5C35-470C-9797-C886195296CB}" type="pres">
      <dgm:prSet presAssocID="{BEB7359A-6AC1-4613-AB29-2A15D3F56473}" presName="sibTrans" presStyleLbl="sibTrans2D1" presStyleIdx="1" presStyleCnt="5"/>
      <dgm:spPr/>
    </dgm:pt>
    <dgm:pt modelId="{4283B086-932B-4A7B-BD3B-26020C0E2724}" type="pres">
      <dgm:prSet presAssocID="{634644CA-8029-4C6D-97E4-4BCE64ACD99A}" presName="node" presStyleLbl="node1" presStyleIdx="2" presStyleCnt="5" custScaleX="128595">
        <dgm:presLayoutVars>
          <dgm:bulletEnabled val="1"/>
        </dgm:presLayoutVars>
      </dgm:prSet>
      <dgm:spPr/>
    </dgm:pt>
    <dgm:pt modelId="{CF37A594-C620-43CE-97CC-046CF82D3A55}" type="pres">
      <dgm:prSet presAssocID="{634644CA-8029-4C6D-97E4-4BCE64ACD99A}" presName="dummy" presStyleCnt="0"/>
      <dgm:spPr/>
    </dgm:pt>
    <dgm:pt modelId="{11E4E56C-A8B1-4B45-87AD-EA0816233287}" type="pres">
      <dgm:prSet presAssocID="{329981D0-8FA0-4BBF-A0C1-DEB0B194B433}" presName="sibTrans" presStyleLbl="sibTrans2D1" presStyleIdx="2" presStyleCnt="5"/>
      <dgm:spPr/>
    </dgm:pt>
    <dgm:pt modelId="{50DB58EF-C6F3-42B5-A128-C70572970DF0}" type="pres">
      <dgm:prSet presAssocID="{5FC79424-4C87-4488-B7BD-FE2272F0B04F}" presName="node" presStyleLbl="node1" presStyleIdx="3" presStyleCnt="5" custScaleX="128595">
        <dgm:presLayoutVars>
          <dgm:bulletEnabled val="1"/>
        </dgm:presLayoutVars>
      </dgm:prSet>
      <dgm:spPr/>
    </dgm:pt>
    <dgm:pt modelId="{64BEA698-6219-4095-8B0A-A807595B7C28}" type="pres">
      <dgm:prSet presAssocID="{5FC79424-4C87-4488-B7BD-FE2272F0B04F}" presName="dummy" presStyleCnt="0"/>
      <dgm:spPr/>
    </dgm:pt>
    <dgm:pt modelId="{019A69C8-9539-4B89-916E-457BCFE0A747}" type="pres">
      <dgm:prSet presAssocID="{9E06731B-4965-4A25-8F7E-0CBAA046F40A}" presName="sibTrans" presStyleLbl="sibTrans2D1" presStyleIdx="3" presStyleCnt="5"/>
      <dgm:spPr/>
    </dgm:pt>
    <dgm:pt modelId="{5065AE2D-A388-4C90-99FF-F5881C35868B}" type="pres">
      <dgm:prSet presAssocID="{824A1D3C-F64D-49FF-92F3-50AB5509F593}" presName="node" presStyleLbl="node1" presStyleIdx="4" presStyleCnt="5" custScaleX="128595">
        <dgm:presLayoutVars>
          <dgm:bulletEnabled val="1"/>
        </dgm:presLayoutVars>
      </dgm:prSet>
      <dgm:spPr/>
    </dgm:pt>
    <dgm:pt modelId="{2007683C-FB37-4490-9E8A-4761DFE1F6B8}" type="pres">
      <dgm:prSet presAssocID="{824A1D3C-F64D-49FF-92F3-50AB5509F593}" presName="dummy" presStyleCnt="0"/>
      <dgm:spPr/>
    </dgm:pt>
    <dgm:pt modelId="{3CEC1150-513A-451E-9D10-644A02F61B17}" type="pres">
      <dgm:prSet presAssocID="{79E86169-D13B-4473-9EA1-B05926B92DCC}" presName="sibTrans" presStyleLbl="sibTrans2D1" presStyleIdx="4" presStyleCnt="5"/>
      <dgm:spPr/>
    </dgm:pt>
  </dgm:ptLst>
  <dgm:cxnLst>
    <dgm:cxn modelId="{0670A200-D83F-4B2E-BD2E-B210BE7DDFB4}" type="presOf" srcId="{634644CA-8029-4C6D-97E4-4BCE64ACD99A}" destId="{4283B086-932B-4A7B-BD3B-26020C0E2724}" srcOrd="0" destOrd="0" presId="urn:microsoft.com/office/officeart/2005/8/layout/radial6"/>
    <dgm:cxn modelId="{CEC75302-E20A-4253-A606-E5194FADB699}" srcId="{777CF002-0135-4E7B-9FE7-077EF03302F9}" destId="{730DE23B-0885-4419-B76A-D9FECE1E808B}" srcOrd="1" destOrd="0" parTransId="{210BD013-F8B8-41F6-9AA7-7FE512E91CEF}" sibTransId="{BEB7359A-6AC1-4613-AB29-2A15D3F56473}"/>
    <dgm:cxn modelId="{3708760D-1792-4C9C-A202-7C74AF7E999A}" srcId="{777CF002-0135-4E7B-9FE7-077EF03302F9}" destId="{536B5EE1-22C1-48E5-8AD2-50AD0D4BF3CE}" srcOrd="0" destOrd="0" parTransId="{1348E4E5-23ED-407A-AE2F-1DC4436D6E60}" sibTransId="{08727125-EDC8-4B40-8B0F-EB1ED785270C}"/>
    <dgm:cxn modelId="{337D5911-C03A-4189-87A7-6058DAAFF4DF}" type="presOf" srcId="{5FC79424-4C87-4488-B7BD-FE2272F0B04F}" destId="{50DB58EF-C6F3-42B5-A128-C70572970DF0}" srcOrd="0" destOrd="0" presId="urn:microsoft.com/office/officeart/2005/8/layout/radial6"/>
    <dgm:cxn modelId="{9266B822-96F8-448D-A0CB-941B515E1042}" srcId="{777CF002-0135-4E7B-9FE7-077EF03302F9}" destId="{5FC79424-4C87-4488-B7BD-FE2272F0B04F}" srcOrd="3" destOrd="0" parTransId="{03B4F496-9091-4971-8691-87144478A7A5}" sibTransId="{9E06731B-4965-4A25-8F7E-0CBAA046F40A}"/>
    <dgm:cxn modelId="{33CFE031-AD1C-4CA9-B48C-712FAC1C49C4}" srcId="{777CF002-0135-4E7B-9FE7-077EF03302F9}" destId="{634644CA-8029-4C6D-97E4-4BCE64ACD99A}" srcOrd="2" destOrd="0" parTransId="{C5EF4029-6006-440E-9EEF-2A9F34395DC8}" sibTransId="{329981D0-8FA0-4BBF-A0C1-DEB0B194B433}"/>
    <dgm:cxn modelId="{FE9F4047-D924-458D-9A5B-353F5A1571A3}" type="presOf" srcId="{536B5EE1-22C1-48E5-8AD2-50AD0D4BF3CE}" destId="{BC34623D-78E4-454E-A36A-F85433A0318A}" srcOrd="0" destOrd="0" presId="urn:microsoft.com/office/officeart/2005/8/layout/radial6"/>
    <dgm:cxn modelId="{2379654D-3448-4AA2-B8D0-CD375B57A46E}" type="presOf" srcId="{5A842845-81D8-4DCD-A796-659934E05274}" destId="{04493531-95D1-4924-A654-BD2C57D1D6B5}" srcOrd="0" destOrd="0" presId="urn:microsoft.com/office/officeart/2005/8/layout/radial6"/>
    <dgm:cxn modelId="{2945944E-8C7F-4908-A021-E50105F73B68}" type="presOf" srcId="{824A1D3C-F64D-49FF-92F3-50AB5509F593}" destId="{5065AE2D-A388-4C90-99FF-F5881C35868B}" srcOrd="0" destOrd="0" presId="urn:microsoft.com/office/officeart/2005/8/layout/radial6"/>
    <dgm:cxn modelId="{A6F39074-823B-4B3D-B33D-41FD172439F0}" type="presOf" srcId="{BEB7359A-6AC1-4613-AB29-2A15D3F56473}" destId="{883F04C6-5C35-470C-9797-C886195296CB}" srcOrd="0" destOrd="0" presId="urn:microsoft.com/office/officeart/2005/8/layout/radial6"/>
    <dgm:cxn modelId="{B4BDA558-8B9B-4A4F-A6EE-14862C6EAF40}" srcId="{5A842845-81D8-4DCD-A796-659934E05274}" destId="{777CF002-0135-4E7B-9FE7-077EF03302F9}" srcOrd="0" destOrd="0" parTransId="{2674E952-6ADD-46EB-9945-DE9E73230878}" sibTransId="{A2DC7D9C-2C4A-4EDF-926E-7F1FBDA49216}"/>
    <dgm:cxn modelId="{92830E8E-A969-401A-A879-46C38B54CA5E}" type="presOf" srcId="{730DE23B-0885-4419-B76A-D9FECE1E808B}" destId="{5661D913-EB68-4749-969D-F584B159A5A3}" srcOrd="0" destOrd="0" presId="urn:microsoft.com/office/officeart/2005/8/layout/radial6"/>
    <dgm:cxn modelId="{AAFC5394-7090-4B54-97C6-15F973911931}" type="presOf" srcId="{9E06731B-4965-4A25-8F7E-0CBAA046F40A}" destId="{019A69C8-9539-4B89-916E-457BCFE0A747}" srcOrd="0" destOrd="0" presId="urn:microsoft.com/office/officeart/2005/8/layout/radial6"/>
    <dgm:cxn modelId="{404C4FA7-E5B5-4B92-9046-370B18D5FE5D}" type="presOf" srcId="{777CF002-0135-4E7B-9FE7-077EF03302F9}" destId="{2E25335E-CBC4-4FC2-8442-EE1238D074C3}" srcOrd="0" destOrd="0" presId="urn:microsoft.com/office/officeart/2005/8/layout/radial6"/>
    <dgm:cxn modelId="{C6D23DBA-29BF-4A09-8F2D-B89DB7AEEDDE}" type="presOf" srcId="{79E86169-D13B-4473-9EA1-B05926B92DCC}" destId="{3CEC1150-513A-451E-9D10-644A02F61B17}" srcOrd="0" destOrd="0" presId="urn:microsoft.com/office/officeart/2005/8/layout/radial6"/>
    <dgm:cxn modelId="{8F91D6BE-6987-4009-8104-D00B3D87097C}" srcId="{777CF002-0135-4E7B-9FE7-077EF03302F9}" destId="{824A1D3C-F64D-49FF-92F3-50AB5509F593}" srcOrd="4" destOrd="0" parTransId="{E5652BF4-D470-4E29-9AB3-65023FBAD2B4}" sibTransId="{79E86169-D13B-4473-9EA1-B05926B92DCC}"/>
    <dgm:cxn modelId="{080E9DD9-5162-42D8-810E-DEB8FE923F8C}" type="presOf" srcId="{08727125-EDC8-4B40-8B0F-EB1ED785270C}" destId="{B6A0848B-E1F8-47DF-997A-F8D82BE44AEF}" srcOrd="0" destOrd="0" presId="urn:microsoft.com/office/officeart/2005/8/layout/radial6"/>
    <dgm:cxn modelId="{D59C9FE2-D3C5-4AF1-9B91-2654174A4725}" type="presOf" srcId="{329981D0-8FA0-4BBF-A0C1-DEB0B194B433}" destId="{11E4E56C-A8B1-4B45-87AD-EA0816233287}" srcOrd="0" destOrd="0" presId="urn:microsoft.com/office/officeart/2005/8/layout/radial6"/>
    <dgm:cxn modelId="{76CA6A18-B4A3-480B-B21F-B4EF24BAEAA3}" type="presParOf" srcId="{04493531-95D1-4924-A654-BD2C57D1D6B5}" destId="{2E25335E-CBC4-4FC2-8442-EE1238D074C3}" srcOrd="0" destOrd="0" presId="urn:microsoft.com/office/officeart/2005/8/layout/radial6"/>
    <dgm:cxn modelId="{737A4E44-166B-4F04-AC83-71BE0BBA578D}" type="presParOf" srcId="{04493531-95D1-4924-A654-BD2C57D1D6B5}" destId="{BC34623D-78E4-454E-A36A-F85433A0318A}" srcOrd="1" destOrd="0" presId="urn:microsoft.com/office/officeart/2005/8/layout/radial6"/>
    <dgm:cxn modelId="{36A220CA-4B1D-451E-A4EC-C1ECC16820F8}" type="presParOf" srcId="{04493531-95D1-4924-A654-BD2C57D1D6B5}" destId="{DD0C43DA-1877-4708-A5DE-6F00311A0119}" srcOrd="2" destOrd="0" presId="urn:microsoft.com/office/officeart/2005/8/layout/radial6"/>
    <dgm:cxn modelId="{C5E2225A-2375-4681-A997-8F417B3E35E0}" type="presParOf" srcId="{04493531-95D1-4924-A654-BD2C57D1D6B5}" destId="{B6A0848B-E1F8-47DF-997A-F8D82BE44AEF}" srcOrd="3" destOrd="0" presId="urn:microsoft.com/office/officeart/2005/8/layout/radial6"/>
    <dgm:cxn modelId="{7B3F1D7B-7F98-499D-9A13-E19EAA65C9AA}" type="presParOf" srcId="{04493531-95D1-4924-A654-BD2C57D1D6B5}" destId="{5661D913-EB68-4749-969D-F584B159A5A3}" srcOrd="4" destOrd="0" presId="urn:microsoft.com/office/officeart/2005/8/layout/radial6"/>
    <dgm:cxn modelId="{466EE6F1-3FCF-4B0A-9521-FC9E74B772E6}" type="presParOf" srcId="{04493531-95D1-4924-A654-BD2C57D1D6B5}" destId="{DAFA1010-FF87-45FE-8C22-45276F72468D}" srcOrd="5" destOrd="0" presId="urn:microsoft.com/office/officeart/2005/8/layout/radial6"/>
    <dgm:cxn modelId="{800D4FB9-FDCA-4355-AE72-D0B02AE4DA1D}" type="presParOf" srcId="{04493531-95D1-4924-A654-BD2C57D1D6B5}" destId="{883F04C6-5C35-470C-9797-C886195296CB}" srcOrd="6" destOrd="0" presId="urn:microsoft.com/office/officeart/2005/8/layout/radial6"/>
    <dgm:cxn modelId="{65AE3300-7D3C-4173-AC29-9CA44A9F5C7C}" type="presParOf" srcId="{04493531-95D1-4924-A654-BD2C57D1D6B5}" destId="{4283B086-932B-4A7B-BD3B-26020C0E2724}" srcOrd="7" destOrd="0" presId="urn:microsoft.com/office/officeart/2005/8/layout/radial6"/>
    <dgm:cxn modelId="{02F7593D-1499-4C66-B694-FA2ECBB9938E}" type="presParOf" srcId="{04493531-95D1-4924-A654-BD2C57D1D6B5}" destId="{CF37A594-C620-43CE-97CC-046CF82D3A55}" srcOrd="8" destOrd="0" presId="urn:microsoft.com/office/officeart/2005/8/layout/radial6"/>
    <dgm:cxn modelId="{7B3602AB-0FB0-4E59-A814-2F57C8280668}" type="presParOf" srcId="{04493531-95D1-4924-A654-BD2C57D1D6B5}" destId="{11E4E56C-A8B1-4B45-87AD-EA0816233287}" srcOrd="9" destOrd="0" presId="urn:microsoft.com/office/officeart/2005/8/layout/radial6"/>
    <dgm:cxn modelId="{C77A027F-AE40-4BDD-A1CE-487229D6D789}" type="presParOf" srcId="{04493531-95D1-4924-A654-BD2C57D1D6B5}" destId="{50DB58EF-C6F3-42B5-A128-C70572970DF0}" srcOrd="10" destOrd="0" presId="urn:microsoft.com/office/officeart/2005/8/layout/radial6"/>
    <dgm:cxn modelId="{9D41F0E8-C0E9-4403-8581-3580F48C3480}" type="presParOf" srcId="{04493531-95D1-4924-A654-BD2C57D1D6B5}" destId="{64BEA698-6219-4095-8B0A-A807595B7C28}" srcOrd="11" destOrd="0" presId="urn:microsoft.com/office/officeart/2005/8/layout/radial6"/>
    <dgm:cxn modelId="{E53EC09C-E205-4877-ABC9-0733EF187F3F}" type="presParOf" srcId="{04493531-95D1-4924-A654-BD2C57D1D6B5}" destId="{019A69C8-9539-4B89-916E-457BCFE0A747}" srcOrd="12" destOrd="0" presId="urn:microsoft.com/office/officeart/2005/8/layout/radial6"/>
    <dgm:cxn modelId="{2ADEDECA-4EC0-4EEE-84EE-471F86788E25}" type="presParOf" srcId="{04493531-95D1-4924-A654-BD2C57D1D6B5}" destId="{5065AE2D-A388-4C90-99FF-F5881C35868B}" srcOrd="13" destOrd="0" presId="urn:microsoft.com/office/officeart/2005/8/layout/radial6"/>
    <dgm:cxn modelId="{CC0FDE25-DB36-4A52-B829-062F1FD4086C}" type="presParOf" srcId="{04493531-95D1-4924-A654-BD2C57D1D6B5}" destId="{2007683C-FB37-4490-9E8A-4761DFE1F6B8}" srcOrd="14" destOrd="0" presId="urn:microsoft.com/office/officeart/2005/8/layout/radial6"/>
    <dgm:cxn modelId="{F681C612-93A3-4D0A-BC8E-34FD50FA7209}" type="presParOf" srcId="{04493531-95D1-4924-A654-BD2C57D1D6B5}" destId="{3CEC1150-513A-451E-9D10-644A02F61B17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EC1150-513A-451E-9D10-644A02F61B17}">
      <dsp:nvSpPr>
        <dsp:cNvPr id="0" name=""/>
        <dsp:cNvSpPr/>
      </dsp:nvSpPr>
      <dsp:spPr>
        <a:xfrm>
          <a:off x="758294" y="680387"/>
          <a:ext cx="4532519" cy="4532519"/>
        </a:xfrm>
        <a:prstGeom prst="blockArc">
          <a:avLst>
            <a:gd name="adj1" fmla="val 11880000"/>
            <a:gd name="adj2" fmla="val 16200000"/>
            <a:gd name="adj3" fmla="val 4644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19A69C8-9539-4B89-916E-457BCFE0A747}">
      <dsp:nvSpPr>
        <dsp:cNvPr id="0" name=""/>
        <dsp:cNvSpPr/>
      </dsp:nvSpPr>
      <dsp:spPr>
        <a:xfrm>
          <a:off x="758294" y="680387"/>
          <a:ext cx="4532519" cy="4532519"/>
        </a:xfrm>
        <a:prstGeom prst="blockArc">
          <a:avLst>
            <a:gd name="adj1" fmla="val 7560000"/>
            <a:gd name="adj2" fmla="val 11880000"/>
            <a:gd name="adj3" fmla="val 4644"/>
          </a:avLst>
        </a:prstGeom>
        <a:gradFill rotWithShape="0">
          <a:gsLst>
            <a:gs pos="0">
              <a:schemeClr val="accent3">
                <a:hueOff val="2032949"/>
                <a:satOff val="75000"/>
                <a:lumOff val="-110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32949"/>
                <a:satOff val="75000"/>
                <a:lumOff val="-110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32949"/>
                <a:satOff val="75000"/>
                <a:lumOff val="-110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E4E56C-A8B1-4B45-87AD-EA0816233287}">
      <dsp:nvSpPr>
        <dsp:cNvPr id="0" name=""/>
        <dsp:cNvSpPr/>
      </dsp:nvSpPr>
      <dsp:spPr>
        <a:xfrm>
          <a:off x="758294" y="680387"/>
          <a:ext cx="4532519" cy="4532519"/>
        </a:xfrm>
        <a:prstGeom prst="blockArc">
          <a:avLst>
            <a:gd name="adj1" fmla="val 3240000"/>
            <a:gd name="adj2" fmla="val 7560000"/>
            <a:gd name="adj3" fmla="val 4644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3F04C6-5C35-470C-9797-C886195296CB}">
      <dsp:nvSpPr>
        <dsp:cNvPr id="0" name=""/>
        <dsp:cNvSpPr/>
      </dsp:nvSpPr>
      <dsp:spPr>
        <a:xfrm>
          <a:off x="758294" y="680387"/>
          <a:ext cx="4532519" cy="4532519"/>
        </a:xfrm>
        <a:prstGeom prst="blockArc">
          <a:avLst>
            <a:gd name="adj1" fmla="val 20520000"/>
            <a:gd name="adj2" fmla="val 3240000"/>
            <a:gd name="adj3" fmla="val 4644"/>
          </a:avLst>
        </a:prstGeom>
        <a:gradFill rotWithShape="0">
          <a:gsLst>
            <a:gs pos="0">
              <a:schemeClr val="accent3">
                <a:hueOff val="677650"/>
                <a:satOff val="25000"/>
                <a:lumOff val="-36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77650"/>
                <a:satOff val="25000"/>
                <a:lumOff val="-36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77650"/>
                <a:satOff val="25000"/>
                <a:lumOff val="-36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6A0848B-E1F8-47DF-997A-F8D82BE44AEF}">
      <dsp:nvSpPr>
        <dsp:cNvPr id="0" name=""/>
        <dsp:cNvSpPr/>
      </dsp:nvSpPr>
      <dsp:spPr>
        <a:xfrm>
          <a:off x="758294" y="680387"/>
          <a:ext cx="4532519" cy="4532519"/>
        </a:xfrm>
        <a:prstGeom prst="blockArc">
          <a:avLst>
            <a:gd name="adj1" fmla="val 16200000"/>
            <a:gd name="adj2" fmla="val 20520000"/>
            <a:gd name="adj3" fmla="val 4644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E25335E-CBC4-4FC2-8442-EE1238D074C3}">
      <dsp:nvSpPr>
        <dsp:cNvPr id="0" name=""/>
        <dsp:cNvSpPr/>
      </dsp:nvSpPr>
      <dsp:spPr>
        <a:xfrm>
          <a:off x="1980433" y="1902526"/>
          <a:ext cx="2088241" cy="208824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cs typeface="+mn-cs"/>
            </a:rPr>
            <a:t>Compliance</a:t>
          </a:r>
        </a:p>
      </dsp:txBody>
      <dsp:txXfrm>
        <a:off x="2286249" y="2208342"/>
        <a:ext cx="1476609" cy="1476609"/>
      </dsp:txXfrm>
    </dsp:sp>
    <dsp:sp modelId="{BC34623D-78E4-454E-A36A-F85433A0318A}">
      <dsp:nvSpPr>
        <dsp:cNvPr id="0" name=""/>
        <dsp:cNvSpPr/>
      </dsp:nvSpPr>
      <dsp:spPr>
        <a:xfrm>
          <a:off x="2084672" y="2126"/>
          <a:ext cx="1879762" cy="146176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 dirty="0">
              <a:latin typeface="Angsana New" pitchFamily="18" charset="-34"/>
              <a:ea typeface="MS PGothic" pitchFamily="34" charset="-128"/>
              <a:cs typeface="+mn-cs"/>
            </a:rPr>
            <a:t>1. </a:t>
          </a:r>
          <a:r>
            <a:rPr lang="th-TH" altLang="ja-JP" sz="2000" kern="1200" dirty="0">
              <a:latin typeface="Angsana New" pitchFamily="18" charset="-34"/>
              <a:cs typeface="+mn-cs"/>
            </a:rPr>
            <a:t>การปฏิบัติตามกฎหมายและจริยธรรมบริษัท</a:t>
          </a:r>
          <a:endParaRPr lang="en-US" sz="2000" kern="1200" dirty="0">
            <a:cs typeface="+mn-cs"/>
          </a:endParaRPr>
        </a:p>
      </dsp:txBody>
      <dsp:txXfrm>
        <a:off x="2359957" y="216197"/>
        <a:ext cx="1329192" cy="1033627"/>
      </dsp:txXfrm>
    </dsp:sp>
    <dsp:sp modelId="{5661D913-EB68-4749-969D-F584B159A5A3}">
      <dsp:nvSpPr>
        <dsp:cNvPr id="0" name=""/>
        <dsp:cNvSpPr/>
      </dsp:nvSpPr>
      <dsp:spPr>
        <a:xfrm>
          <a:off x="4189965" y="1531711"/>
          <a:ext cx="1879762" cy="1461769"/>
        </a:xfrm>
        <a:prstGeom prst="ellipse">
          <a:avLst/>
        </a:prstGeom>
        <a:gradFill rotWithShape="0">
          <a:gsLst>
            <a:gs pos="0">
              <a:schemeClr val="accent3">
                <a:hueOff val="677650"/>
                <a:satOff val="25000"/>
                <a:lumOff val="-36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77650"/>
                <a:satOff val="25000"/>
                <a:lumOff val="-36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77650"/>
                <a:satOff val="25000"/>
                <a:lumOff val="-36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 dirty="0">
              <a:latin typeface="Angsana New" pitchFamily="18" charset="-34"/>
              <a:ea typeface="MS PGothic" pitchFamily="34" charset="-128"/>
              <a:cs typeface="+mn-cs"/>
            </a:rPr>
            <a:t>2.</a:t>
          </a:r>
          <a:r>
            <a:rPr lang="th-TH" altLang="ja-JP" sz="2000" kern="1200" dirty="0">
              <a:latin typeface="Angsana New" pitchFamily="18" charset="-34"/>
              <a:cs typeface="+mn-cs"/>
            </a:rPr>
            <a:t> การควบคุมดูแลทรัพย์สินของบริษัท</a:t>
          </a:r>
          <a:r>
            <a:rPr lang="en-US" altLang="ja-JP" sz="2000" kern="1200" dirty="0">
              <a:latin typeface="Angsana New" pitchFamily="18" charset="-34"/>
              <a:ea typeface="MS PGothic" pitchFamily="34" charset="-128"/>
              <a:cs typeface="+mn-cs"/>
            </a:rPr>
            <a:t>  </a:t>
          </a:r>
          <a:endParaRPr lang="en-US" sz="2000" kern="1200" dirty="0">
            <a:cs typeface="+mn-cs"/>
          </a:endParaRPr>
        </a:p>
      </dsp:txBody>
      <dsp:txXfrm>
        <a:off x="4465250" y="1745782"/>
        <a:ext cx="1329192" cy="1033627"/>
      </dsp:txXfrm>
    </dsp:sp>
    <dsp:sp modelId="{4283B086-932B-4A7B-BD3B-26020C0E2724}">
      <dsp:nvSpPr>
        <dsp:cNvPr id="0" name=""/>
        <dsp:cNvSpPr/>
      </dsp:nvSpPr>
      <dsp:spPr>
        <a:xfrm>
          <a:off x="3385815" y="4006631"/>
          <a:ext cx="1879762" cy="1461769"/>
        </a:xfrm>
        <a:prstGeom prst="ellips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altLang="ja-JP" sz="2000" kern="1200">
              <a:latin typeface="Angsana New" pitchFamily="18" charset="-34"/>
              <a:ea typeface="MS PGothic" pitchFamily="34" charset="-128"/>
              <a:cs typeface="+mn-cs"/>
            </a:rPr>
            <a:t>3.</a:t>
          </a:r>
          <a:r>
            <a:rPr lang="th-TH" altLang="ja-JP" sz="2000" kern="1200">
              <a:latin typeface="Angsana New" pitchFamily="18" charset="-34"/>
              <a:cs typeface="+mn-cs"/>
            </a:rPr>
            <a:t> การจัดการข้อมูล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th-TH" altLang="ja-JP" sz="2000" kern="1200">
              <a:latin typeface="Angsana New" pitchFamily="18" charset="-34"/>
              <a:ea typeface="MS PGothic" pitchFamily="34" charset="-128"/>
              <a:cs typeface="+mn-cs"/>
            </a:rPr>
            <a:t>ข่าวสาร</a:t>
          </a:r>
          <a:r>
            <a:rPr lang="en-US" altLang="ja-JP" sz="2000" kern="1200">
              <a:latin typeface="Angsana New" pitchFamily="18" charset="-34"/>
              <a:ea typeface="MS PGothic" pitchFamily="34" charset="-128"/>
              <a:cs typeface="+mn-cs"/>
            </a:rPr>
            <a:t>  </a:t>
          </a:r>
          <a:endParaRPr lang="en-US" sz="2000" kern="1200" dirty="0">
            <a:cs typeface="+mn-cs"/>
          </a:endParaRPr>
        </a:p>
      </dsp:txBody>
      <dsp:txXfrm>
        <a:off x="3661100" y="4220702"/>
        <a:ext cx="1329192" cy="1033627"/>
      </dsp:txXfrm>
    </dsp:sp>
    <dsp:sp modelId="{50DB58EF-C6F3-42B5-A128-C70572970DF0}">
      <dsp:nvSpPr>
        <dsp:cNvPr id="0" name=""/>
        <dsp:cNvSpPr/>
      </dsp:nvSpPr>
      <dsp:spPr>
        <a:xfrm>
          <a:off x="783530" y="4006631"/>
          <a:ext cx="1879762" cy="1461769"/>
        </a:xfrm>
        <a:prstGeom prst="ellipse">
          <a:avLst/>
        </a:prstGeom>
        <a:gradFill rotWithShape="0">
          <a:gsLst>
            <a:gs pos="0">
              <a:schemeClr val="accent3">
                <a:hueOff val="2032949"/>
                <a:satOff val="75000"/>
                <a:lumOff val="-110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32949"/>
                <a:satOff val="75000"/>
                <a:lumOff val="-110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32949"/>
                <a:satOff val="75000"/>
                <a:lumOff val="-110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800" kern="1200" dirty="0">
              <a:latin typeface="Angsana New" pitchFamily="18" charset="-34"/>
              <a:ea typeface="MS PGothic" pitchFamily="34" charset="-128"/>
              <a:cs typeface="+mn-cs"/>
            </a:rPr>
            <a:t>4.</a:t>
          </a:r>
          <a:r>
            <a:rPr lang="th-TH" altLang="ja-JP" sz="1800" kern="1200" dirty="0">
              <a:latin typeface="Angsana New" pitchFamily="18" charset="-34"/>
              <a:cs typeface="+mn-cs"/>
            </a:rPr>
            <a:t> ความขัดแย้งทางผลประโยชน์</a:t>
          </a:r>
          <a:r>
            <a:rPr lang="en-US" altLang="ja-JP" sz="1800" kern="1200" dirty="0">
              <a:latin typeface="Angsana New" pitchFamily="18" charset="-34"/>
              <a:ea typeface="MS PGothic" pitchFamily="34" charset="-128"/>
              <a:cs typeface="+mn-cs"/>
            </a:rPr>
            <a:t> / </a:t>
          </a:r>
          <a:r>
            <a:rPr lang="th-TH" altLang="ja-JP" sz="1800" kern="1200" dirty="0">
              <a:latin typeface="Angsana New" pitchFamily="18" charset="-34"/>
              <a:cs typeface="+mn-cs"/>
            </a:rPr>
            <a:t>การแยกแยะระหว่างเรื่องงานและเรื่องส่วนตัว</a:t>
          </a:r>
          <a:endParaRPr lang="en-US" sz="1800" kern="1200" dirty="0">
            <a:cs typeface="+mn-cs"/>
          </a:endParaRPr>
        </a:p>
      </dsp:txBody>
      <dsp:txXfrm>
        <a:off x="1058815" y="4220702"/>
        <a:ext cx="1329192" cy="1033627"/>
      </dsp:txXfrm>
    </dsp:sp>
    <dsp:sp modelId="{5065AE2D-A388-4C90-99FF-F5881C35868B}">
      <dsp:nvSpPr>
        <dsp:cNvPr id="0" name=""/>
        <dsp:cNvSpPr/>
      </dsp:nvSpPr>
      <dsp:spPr>
        <a:xfrm>
          <a:off x="-20620" y="1531711"/>
          <a:ext cx="1879762" cy="1461769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2000" kern="1200">
              <a:latin typeface="Angsana New" pitchFamily="18" charset="-34"/>
              <a:ea typeface="MS PGothic" pitchFamily="34" charset="-128"/>
              <a:cs typeface="+mn-cs"/>
            </a:rPr>
            <a:t>5.</a:t>
          </a:r>
          <a:r>
            <a:rPr lang="th-TH" altLang="ja-JP" sz="2000" kern="1200">
              <a:latin typeface="Angsana New" pitchFamily="18" charset="-34"/>
              <a:cs typeface="+mn-cs"/>
            </a:rPr>
            <a:t> การบำรุงรักษาและการปรับปรุงสภาพแวดล้อมในสถานที่ทำงาน</a:t>
          </a:r>
          <a:endParaRPr lang="en-US" sz="2000" kern="1200" dirty="0">
            <a:cs typeface="+mn-cs"/>
          </a:endParaRPr>
        </a:p>
      </dsp:txBody>
      <dsp:txXfrm>
        <a:off x="254665" y="1745782"/>
        <a:ext cx="1329192" cy="1033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B2225-FE27-4200-9814-75FF26FFF1B6}" type="datetimeFigureOut">
              <a:rPr lang="en-US" smtClean="0"/>
              <a:t>23/9/2026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B0BC2-61C4-46C6-A250-303E8534B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8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7955"/>
            <a:fld id="{65B29F3E-3EAD-442B-8DAC-539DF3DC39C6}" type="slidenum">
              <a:rPr lang="en-US" altLang="ja-JP" smtClean="0">
                <a:ea typeface="ＭＳ Ｐゴシック" charset="-128"/>
              </a:rPr>
              <a:pPr defTabSz="907955"/>
              <a:t>1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800100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0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3995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2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70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3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841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08100" y="806450"/>
            <a:ext cx="4197350" cy="3149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C516B-208D-4AEF-9D8F-7C22626F18D4}" type="slidenum">
              <a:rPr lang="en-US" altLang="ja-JP" smtClean="0"/>
              <a:pPr>
                <a:defRPr/>
              </a:pPr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00395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EB3325-7841-4308-AA04-AFD6FA04AB11}" type="slidenum">
              <a:rPr lang="en-US" altLang="ja-JP" smtClean="0"/>
              <a:pPr/>
              <a:t>7</a:t>
            </a:fld>
            <a:endParaRPr lang="en-US" altLang="ja-JP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58825" y="825500"/>
            <a:ext cx="5302250" cy="3976688"/>
          </a:xfrm>
          <a:solidFill>
            <a:srgbClr val="FFFFFF"/>
          </a:solidFill>
          <a:ln/>
        </p:spPr>
      </p:sp>
      <p:sp>
        <p:nvSpPr>
          <p:cNvPr id="6" name="Rectangle 3"/>
          <p:cNvSpPr>
            <a:spLocks noGrp="1" noChangeArrowheads="1"/>
          </p:cNvSpPr>
          <p:nvPr>
            <p:ph type="body" idx="3"/>
          </p:nvPr>
        </p:nvSpPr>
        <p:spPr bwMode="auto">
          <a:xfrm>
            <a:off x="104981" y="4891804"/>
            <a:ext cx="6349007" cy="5556335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lIns="92518" tIns="46260" rIns="92518" bIns="46260">
            <a:noAutofit/>
          </a:bodyPr>
          <a:lstStyle/>
          <a:p>
            <a:r>
              <a:rPr kumimoji="0"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Keyword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คือ</a:t>
            </a:r>
            <a:r>
              <a:rPr kumimoji="0" lang="ja-JP" altLang="en-US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「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การปรับปรุงขั้นสูง</a:t>
            </a:r>
            <a:r>
              <a:rPr kumimoji="0" lang="ja-JP" altLang="en-US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การเจรจา</a:t>
            </a:r>
            <a:r>
              <a:rPr kumimoji="0" lang="ja-JP" altLang="en-US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การได้ผล</a:t>
            </a:r>
            <a:r>
              <a:rPr kumimoji="0" lang="ja-JP" altLang="en-US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　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เป็นหัวข้อสำคัญ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！！</a:t>
            </a:r>
            <a:endParaRPr kumimoji="0" lang="en-US" altLang="ja-JP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■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การปรับปรุงขั้นสูง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→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ไม่ใช่การปรับปรุงแบบจุด แต่หมายถึงเป็นการปรับปรุงที่สามารถขยายผลไปที่งานหรือกระบวนการอื่นๆได้หลากหลาย</a:t>
            </a:r>
          </a:p>
          <a:p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เป็นการปรับปรุงที่คำนวณเที่ยบราคา พื้นที่ จำนวนคนแล้วมีผลดีมากกว่า</a:t>
            </a:r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■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การเจรจา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→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ความหมายคือการเจรจาการตัดสินใจ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（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แสดงความคิดเห็นโต้ตอบกับคนที่สถานะต่างกัน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）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หรือการต่อรอง</a:t>
            </a:r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ที่เข้าข่ายจะเป็นสภาพหรือปัจจัยที่จะมีส่วนเกี่ยวกับผลกำไรและขาดทุนที่มี ความซับซ้อน ไม่ใช่แค่การปรับการแลกเปลี่ยนข้อมูลอย่างเดียว</a:t>
            </a:r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■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การได้ผล</a:t>
            </a:r>
            <a:r>
              <a:rPr kumimoji="0" lang="ja-JP" altLang="en-US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→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ไม่ใช่แค่ความราบรื่นที่ได้มาถึง</a:t>
            </a:r>
            <a:r>
              <a:rPr kumimoji="0"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J1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อย่างเดียว ความต้องการที่ถูกคาดหวังคือผลที่ออกมาต้องมีประสิทธิผลหรือประสิทธิภาพ</a:t>
            </a:r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นอกเหนือจากตรงนี้ 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ในส่วนของประโยคจะเหมือนเดิม ระดับงานที่มีสูงมากขึ้นกว่า</a:t>
            </a:r>
            <a:r>
              <a:rPr kumimoji="0" lang="en-US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J1</a:t>
            </a:r>
            <a:r>
              <a:rPr kumimoji="0" lang="th-TH" altLang="ja-JP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ระดับความต้องการที่ถูกคาดหวังก็จะสูงขึ้น</a:t>
            </a:r>
            <a:endParaRPr kumimoji="0" lang="ja-JP" altLang="en-US" b="1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นอกเหนือจากตรงนี้ คือเนื้อหาเดิมแต่รายละเอียดของงานที่มีระดับสูงขึ้นกว่า</a:t>
            </a:r>
            <a:r>
              <a:rPr kumimoji="0"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kumimoji="0" lang="en-US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 </a:t>
            </a:r>
            <a:r>
              <a:rPr kumimoji="0"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นั้นถูกคาดหวังในระดับที่สูงขึ้น</a:t>
            </a:r>
            <a:endParaRPr kumimoji="0" lang="ja-JP" altLang="en-US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endParaRPr kumimoji="0" lang="en-US" altLang="ja-JP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********************************************</a:t>
            </a: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นี่เป็นมาตรฐานการประเมินระดับบุคคลที่แยกตาม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Band</a:t>
            </a:r>
          </a:p>
          <a:p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ทุกคนตำแหน่งขึ้นจาก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J1</a:t>
            </a:r>
            <a:r>
              <a:rPr lang="en-US" b="1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และบทบาทหน้าที่เปลี่ยนแปลงมาก โดยเฉพาะ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เป็นพนักงานระดับต้นที่เป็นหลักของบริษัท ซึ่งพูดได้ว่ามีการเปลี่ยนแปลงอย่างมากเพราะระดับ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band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สูงขึ้นจากระดับ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band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ล่าง นั้นจึงทำให้การคาดหวังจากบริษัทมีมาก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ในตอนนี้อาจมีคนที่งานไม่เปลี่ยน แต่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หน้าที่ที่ถูกคาดหวังเปลี่ยนไปมาก ดังนั้นคนที่เกี่ยวข้องกับงานที่เหมือนกับ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อาจจะไม่ได้รับการประเมิน เพราะว่าเกี่ยวกับเรื่องของคุณภาพ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！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ดังนั้นการตระหนักถึงหน้าที่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ความคาดหวังของ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อีกครั้งเป็นสิ่งสำคัญ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เอาละ มายืนยันกันโดยยึดหัวข้อประเมิน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จุดที่จับตามองกัน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Point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ก่อนอื่นขอให้ดูผ่านๆตา  คิดว่าน่าจะเข้าใจว่ามีเส้นอยู่ระหว่าง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กับ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J3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โดยเฉพาะ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การตัดสินใจ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นี้จะเริ่มเกี่ยวข้องกับหน้าที่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《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ตัวอย่างอธิบาย</a:t>
            </a:r>
            <a:r>
              <a:rPr lang="en-US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》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เพิ่ม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ตัดสินใจ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ในหัวข้อประเมิน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สำหรับ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นอกเหนือจากการ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 So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กับผู้บังคับบัญชาเป็นประจำทุกวันแล้ว ขอบเขตที่ได้รับมอบหมายในฐานะผู้รับผิดชอบจะกว้างขึ้นด้วย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Keyword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ใหม่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「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การเปลี่ยนแปลง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」「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ค่าใช้จ่ายเที่ยบประสิทธิผล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」「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ความเหมาะสมในภาพรวม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」「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มุมมองระยะยาว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」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　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เกี่ยวกับงานที่รับผิดชอบนั้นจำเป็นต้องตระหนักถึงงานในมุมมองที่กว้างและปฏิบัติจริง โดยการ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balance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มุมมองระยะสั้นกับระยะยาว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ความสัมพันธ์กับงานอื่น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ความเกี่ยวข้องกับต้นทุน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การปรับปรุง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・・・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ทำให้ส่วนที่แย่ดีขึ้น (ค้นหา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Muda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และกำจัด)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การเปลี่ยนแปลง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・・・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เปลี่ยนองค์กร/ความเคยชิน/วิธีการเป็นต้นแล้วทำให้เป็นของใหม่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（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อ้างอิง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）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“Output”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นั้นประเมินผลการทำหน้าที่โดยดูจาก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ปริมาณของ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คุณภาพของ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output”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 2"/>
              </a:rPr>
              <a:t>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ปริมาณของงานประเมินจากมุมมอง 2 เรื่องคือรักษากำหนดการหรือไม่ สามารถทำงานได้อย่างมีประสิทธิภาพหรือไม่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ใน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วันครบกำหนดเวลา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จะประเมินว่าทำหน้าที่ที่ได้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commitment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ตอนสัมภาษณ์ได้สำเร็จตามกำหนดการที่กำหนดไว้หรือไม่ ดังนั้น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ทำงานสำเร็จลุล่วงตามระยะเวลาที่กำหนดแล้ว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หรือไม่จะอยู่ในมุมมองของ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วันครบกำหนดเวลา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ใน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ประสิทธิภาพ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จะประเมินว่าหน้าที่ที่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commitment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ไปมีการทำงานสำเร็จอย่างรวดเร็วและทำงานในปริมาณที่ถูกคาดหวังเสร็จในเวลาที่จำเป็นหรือไม่ ดังนั้น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ทำงานสำเร็จอย่างรวดเร็วและทำงานในปริมาณที่ถูกคาดหวังเสร็จในเวลาที่จำเป็น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หรือไม่จะอยู่ในมุมมองของ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ประสิทธิภาพ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 2"/>
              </a:rPr>
              <a:t>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คุณภาพของ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งาน จะประเมินใน 2 เรื่องคือ ผลของงานเป็นผลที่ถูกต้องและเชื่อถือได้หรือไม่ พบเห็นการปรับปรุงในระดับสูงหรือไม่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ความถูกต้อง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จะประเมินว่าในผลของการทำหน้าที่ที่ได้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commitment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ไปนั้นมีความผิดพลาดหรือไม่ และเป็นไปตามความต้องการของผู้บังคับบัญชาหรือไม่ ดังนั้น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ผลของงานเป็นผลที่ถูกต้องและเชื่อถือได้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หรือไม่จะอยู่ในมุมมองของ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ความถูกต้อง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ปรับปรุง/ปฏิรูป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จะประเมินว่าในผลของการทำหน้าที่ที่ได้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commitment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ไปนั้นมีการปรับปรุงอย่างมีคุณภาพหรือไม่เมื่อเที่ยบกับที่ผ่านมา ดังนั้น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พบเห็นการปรับปรุงในผลของงานที่ทำ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 โดยเฉพาะสำหรับ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 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พบเห็นการปฏิรูป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หรือไม่ในมุมมองของการ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ปรับปรุง/ปฏิรูป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■“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ตัดสินใจ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การกระทำหรือผลของการทำตามดุลพินิจของตัวเองเมื่อเที่ยบประสิทธิผลกับค่าใช้จ่ายแล้วมีความเหมาะสมในภาพรวมและถูกต้องจากมุมมองระยะกลางระยะยาว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4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816457-9C6D-4B2B-9422-3C2D79EA45EA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58825" y="825500"/>
            <a:ext cx="5302250" cy="3976688"/>
          </a:xfrm>
          <a:solidFill>
            <a:srgbClr val="FFFFFF"/>
          </a:solidFill>
          <a:ln/>
        </p:spPr>
      </p:sp>
      <p:sp>
        <p:nvSpPr>
          <p:cNvPr id="6" name="Rectangle 3"/>
          <p:cNvSpPr>
            <a:spLocks noGrp="1" noChangeArrowheads="1"/>
          </p:cNvSpPr>
          <p:nvPr>
            <p:ph type="body" idx="3"/>
          </p:nvPr>
        </p:nvSpPr>
        <p:spPr bwMode="auto">
          <a:xfrm>
            <a:off x="125250" y="4891807"/>
            <a:ext cx="6365207" cy="5717168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lIns="92518" tIns="46260" rIns="92518" bIns="46260">
            <a:noAutofit/>
          </a:bodyPr>
          <a:lstStyle/>
          <a:p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ตรงนี้ก็น่าจะเห็นว่ามีเส้นแบ่งระหว่าง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กับ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ใช่หรือไม่ นั้นหมายความว่ามีแค่ตรงนี้ที่แตกต่างกัน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ＭＳ Ｐ明朝" pitchFamily="18" charset="-128"/>
                <a:cs typeface="Tahoma" panose="020B0604030504040204" pitchFamily="34" charset="0"/>
              </a:rPr>
              <a:t>1.</a:t>
            </a:r>
            <a:r>
              <a:rPr lang="en-US" baseline="0" dirty="0">
                <a:latin typeface="Tahoma" panose="020B0604030504040204" pitchFamily="34" charset="0"/>
                <a:ea typeface="ＭＳ Ｐ明朝" pitchFamily="18" charset="-128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Keyword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ใหม่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ตั้งสมมุติฐาน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ทรัพยากร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คน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สิ่งของ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เงิน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ข้อมูล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）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ต่อรอง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จิตสำนึกของการพัฒนาบุคลากร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ชี้แนะเป็นประจำ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</a:t>
            </a: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การที่จะหาหนทางของความถูกต้องในงานระดับสูงในทันที่นั้นเป็นเรื่องยาก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งานระดับสูงนั้นประเด็นสำคัญคือการตั้งสมมุติฐานอย่างถี่ถ้วนภายใต้ข้อมูลที่ได้รวบรวมรวมทั้งผลการวิเคราะห์หรือประสบการณ์ จัดทำแผนงานภายใต้สมมุติฐานและทำการตรวจสอบสมมุติฐานโดยวงจร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PDCA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และเพิ่มคุณภาพของสมมุติฐานยิ่งขึ้นก่อนที่จะเข้าสู่วงจร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PDC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ต่อไป จะสามารถยกระดับคุณภาพของงานนั้นก็คือการ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brush up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แผน-การดำเนินงาน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ผล ได้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การเจราจาต่อรองจะสำเร็จได้โดยการโน้มน้าวและทำให้ยอมรับ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ประเด็นสำคัญคือการได้รับการยอมรับจากฝ่ายตรงข้าม แต่สิ่งที่สำคัญคือ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การรู้จักฝ่ายตรงข้ามอย่างดี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จำเป็นต้องทำการสื่อสารโดยยืนยันว่า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Goal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ของฝ่ายตรงข้ามคืออะไร จุดที่ฝ่ายตรงข้ามเน้นคืออะไร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ยิ่งไปกว่านั้นมนุษย์เรามีแนวโน้มของการแสดงความเข้าใจกับบุคคลที่เข้าใจตนเอง ความสบายใจ ความเชื่อถือเพราะ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คนๆนี้เข้าใจตนเอง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เป็นสิ่งที่ขาดไม่ได้ในการต่อรองอย่างมีประสิทธิผล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เจรจา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・・・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การพูดคุยโดยการต่อรองทางการทูต (แลกเปลี่ยนความเห็นกับฝ่ายตรงข้ามที่มีสถานะแตกต่างกัน) หรือ กลยุทธ์ในการเจรจา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　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ต่อรอง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・・・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พูดคุยกันเพื่อกำหนดร่วมกับฝ่ายตรงข้าม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(อ้างอิง)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ในความหมายของผลของงานคือปริมาณและคุณภาพของ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ถ้าคิดถึงเรื่องของการพัฒนาอย่างยั่งยืนขององค์กรกับการเติบโตของตัวเองจำเป็นต้องดู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ด้วย สิ่งที่สำคัญคือการยืนยันว่าสามารถเตรียมความสามารถในฐานะของ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เพื่อสร้างผลงานได้อย่างต่อเนื่องหรือไม่ ยิ่งไปกว่านั้นมีการทบทวนผลของปีที่แล้วเพื่อดูว่าปีนี้สามารถสร้างผลลัพธ์ที่ดีกว่าปีที่แล้ว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“Process”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กระบวนการที่ทำให้เกิด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นั้นคือวิธีดำเนินงานจะประเมินในมุมมองของ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“PDCA cycle“ “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HoRenSo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เป็นต้น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แม้แต่กรณีที่ไม่สามารถสร้าง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เนื่องจากหลากหลายปัจจัยก็ตาม ในการดำเนินงานที่ถูกต้องนั้นจะถูกประเมินโดยหัวข้อ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“Process”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 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“Process“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จะประเมินภาพรวมของการทำหน้าที่ให้สำเร็จไม่ใช่ประเมินงานแต่ละงาน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“PDCA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cycle“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จะประเมินว่ามีการทำวงจร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“Plan“ “Do” “Check“ “Action“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อย่างจริงจังหรือไม่ เกี่ยวกับประเด็นหัวข้อยากก็เหมือนกันจะมีการยืนยันว่ามีการหมุนเวียน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PDCA cycle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โดยการตั้งสมมุติฐานหรือไม่เพื่อเพิ่มคุณภาพของงาน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“Ho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So“ 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จะประเมินว่ามีการรายงาน/ติดต่อ/ปรึกษาประเด็นสำคัญและในเวลาที่เหมาะสมกับผู้บังคับบัญชาหรือไม่ นอกจากนี้ มีการรายงาน/ติดต่อ/ปรึกษากับรุ่นพี่ /เพื่อนร่วมงาน/รุ่นน้องเพื่อ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แชร์ข้อมูล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 ดังนั้น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มีการรายงาน ติดต่อ ปรึกษาประเด็นสำคัญในเวลาที่เหมาะสม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 โดยจับตาดู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รายงาน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ติดต่อ</a:t>
            </a:r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ปรึกษา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การใช้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resource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ให้เป็นประโยชน์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ประเมินว่าใช้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ที่มีจำกัด (คน สิ่งของ เงิน ข้อมูล เวลา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IT)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ให้เป็นประโยชน์อย่างมีประสิทธิภาพหรือไม่ ตอน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มีแค่เรื่อง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เวลา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เท่านั้น แต่สำหรับ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J3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จะจับตาดูเกี่ยวกับการใช้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ที่นอกเหนือจากเวลาด้วย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การเจรจากับส่วนงานที่เกี่ยวข้อง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จะประเมินว่าสามารถถ่ายทอดความต้องการของส่วนงานตนเองให้กับส่วนงานที่เกี่ยวข้องและทำการ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adjust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ได้หรือไม่ นอกจากนั้นมีการโน้มน้าวฝ่ายตรงข้ามเพื่อทำให้การเจรจาสำเร็จตามความจำเป็นหรือไม่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จะจับตาดูว่า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มีการเจรจาและต่อรองกับส่วนงานที่เกี่ยวข้องอย่างมีประสิทธิผล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dirty="0">
                <a:latin typeface="Tahoma" panose="020B0604030504040204" pitchFamily="34" charset="0"/>
                <a:cs typeface="Tahoma" panose="020B0604030504040204" pitchFamily="34" charset="0"/>
              </a:rPr>
              <a:t>■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การพัฒนาผู้ใต้บังคับบัญชาและรุ่นน้อง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จะประเมินการพัฒนาและชี้แนะผู้ใต้บังคับบัญชาและรุ่นน้อง ใน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J2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ไม่ได้มีแค่การชี้แนะเรื่องการทำงานเท่านั้น จะจับตาดูเรื่อง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การพัฒนาผู้ใต้บังคับบัญชาและรุ่นน้อง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ว่ามีการชี้แนะเป็นประจำโดยตระหนักถึงการพัฒนารุ่นน้อง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lang="th-TH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หรือไม่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180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10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2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687388" y="804863"/>
            <a:ext cx="5360987" cy="4022725"/>
          </a:xfrm>
        </p:spPr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BE7F13-21F0-43B8-9263-21A2528EA6A2}" type="slidenum">
              <a:rPr lang="en-US" altLang="ja-JP" smtClean="0"/>
              <a:pPr>
                <a:defRPr/>
              </a:pPr>
              <a:t>11</a:t>
            </a:fld>
            <a:endParaRPr lang="en-US" altLang="ja-JP" dirty="0"/>
          </a:p>
        </p:txBody>
      </p:sp>
      <p:sp>
        <p:nvSpPr>
          <p:cNvPr id="6" name="ノート プレースホルダ 2"/>
          <p:cNvSpPr>
            <a:spLocks noGrp="1"/>
          </p:cNvSpPr>
          <p:nvPr>
            <p:ph type="body" idx="3"/>
          </p:nvPr>
        </p:nvSpPr>
        <p:spPr>
          <a:xfrm>
            <a:off x="882520" y="5094805"/>
            <a:ext cx="4850686" cy="4822196"/>
          </a:xfrm>
        </p:spPr>
        <p:txBody>
          <a:bodyPr>
            <a:normAutofit/>
          </a:bodyPr>
          <a:lstStyle/>
          <a:p>
            <a:pPr algn="l"/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9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687388" y="804863"/>
            <a:ext cx="5360987" cy="4022725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>
          <a:xfrm>
            <a:off x="703594" y="5098905"/>
            <a:ext cx="5400600" cy="4826075"/>
          </a:xfrm>
        </p:spPr>
        <p:txBody>
          <a:bodyPr>
            <a:normAutofit/>
          </a:bodyPr>
          <a:lstStyle/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นี้ก็คือหลักปฏิบัติของแคนนอน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จำได้ไหม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？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อ่านออกเสียงเบาๆ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「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หลักการ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San-Ji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หลักความสามารถที่แท้จริง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หลักการความเป็นพลเมืองโลก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แนวคิดครอบครัวใหม่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」「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แนวคิดการให้ความสำคัญกับสุขภาพเป็นอันดับแรก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」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5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อย่าง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พวกเราสามารถอธิบายความหมายและรายละเอียดของแต่ละหลักการได้ไหม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？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หากเป็นพนักงานแคนนอนก็ต้องทำได้ใช่หรือไม่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？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หลักการ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San-Ji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นั้น คิดว่าทุกคนเข้าใจดีอยู่แล้ว ส่วนหลักการอีก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4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หลักการนั้นเข้าใจดีหรือไม่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？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（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ให้นักเรียนอธิบายคร่าวๆบางก็ได้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）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เกี่ยวกับหลักการ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San-JI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นั้นขอใช้เวลาอธิบายที่หลั ส่วนตอนนี้จะทำการอธิบายของ</a:t>
            </a:r>
          </a:p>
          <a:p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4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หลักการนี้ก่อน โปรดทำความเข้าใจให้ดีๆ</a:t>
            </a:r>
            <a:endParaRPr lang="en-US" altLang="ja-JP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sz="12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BE7F13-21F0-43B8-9263-21A2528EA6A2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61686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687388" y="804863"/>
            <a:ext cx="5360987" cy="4022725"/>
          </a:xfrm>
        </p:spPr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2666C-A634-448E-816F-69D7075A6E99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6" name="ノート プレースホルダ 2"/>
          <p:cNvSpPr>
            <a:spLocks noGrp="1"/>
          </p:cNvSpPr>
          <p:nvPr>
            <p:ph type="body" idx="3"/>
          </p:nvPr>
        </p:nvSpPr>
        <p:spPr>
          <a:xfrm>
            <a:off x="882520" y="5094805"/>
            <a:ext cx="4850686" cy="4822196"/>
          </a:xfrm>
        </p:spPr>
        <p:txBody>
          <a:bodyPr>
            <a:normAutofit lnSpcReduction="10000"/>
          </a:bodyPr>
          <a:lstStyle/>
          <a:p>
            <a:pPr algn="l"/>
            <a:r>
              <a:rPr lang="th-TH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สิ่งที่ควรปฏิบัติ </a:t>
            </a:r>
            <a:r>
              <a:rPr lang="en-US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Part </a:t>
            </a:r>
            <a:r>
              <a:rPr lang="th-TH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2</a:t>
            </a:r>
            <a:r>
              <a:rPr lang="en-US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 </a:t>
            </a:r>
            <a:r>
              <a:rPr lang="th-TH" altLang="ja-JP" sz="16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(แนวทางการปฏิบัติ)</a:t>
            </a:r>
            <a:r>
              <a:rPr lang="en-US" altLang="ja-JP" sz="16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 </a:t>
            </a:r>
            <a:r>
              <a:rPr lang="ja-JP" altLang="en-US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＜</a:t>
            </a:r>
            <a:r>
              <a:rPr lang="en-US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10</a:t>
            </a:r>
            <a:r>
              <a:rPr lang="ja-JP" altLang="en-US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：</a:t>
            </a:r>
            <a:r>
              <a:rPr lang="th-TH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3</a:t>
            </a:r>
            <a:r>
              <a:rPr lang="en-US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0-1</a:t>
            </a:r>
            <a:r>
              <a:rPr lang="th-TH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</a:t>
            </a:r>
            <a:r>
              <a:rPr lang="ja-JP" altLang="en-US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：</a:t>
            </a:r>
            <a:r>
              <a:rPr lang="en-US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3</a:t>
            </a:r>
            <a:r>
              <a:rPr lang="th-TH" altLang="ja-JP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5</a:t>
            </a:r>
            <a:r>
              <a:rPr lang="ja-JP" altLang="en-US" sz="16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＞　</a:t>
            </a:r>
            <a:endParaRPr lang="th-TH" altLang="ja-JP" sz="1600" b="1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 defTabSz="927068">
              <a:defRPr/>
            </a:pPr>
            <a:r>
              <a:rPr lang="th-TH" altLang="ja-JP" b="1" dirty="0">
                <a:latin typeface="Tahoma" panose="020B0604030504040204" pitchFamily="34" charset="0"/>
                <a:cs typeface="Tahoma" panose="020B0604030504040204" pitchFamily="34" charset="0"/>
              </a:rPr>
              <a:t>แจกเอกสารแนบ </a:t>
            </a:r>
            <a:r>
              <a:rPr lang="en-US" altLang="ja-JP" b="1" dirty="0">
                <a:latin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ja-JP" altLang="en-US" b="1" dirty="0">
                <a:latin typeface="Tahoma" panose="020B0604030504040204" pitchFamily="34" charset="0"/>
                <a:cs typeface="Tahoma" panose="020B0604030504040204" pitchFamily="34" charset="0"/>
              </a:rPr>
              <a:t>　</a:t>
            </a:r>
            <a:endParaRPr lang="en-US" altLang="ja-JP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defTabSz="927068">
              <a:defRPr/>
            </a:pP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แนวทางสำคัญที่เป็นพื้นฐานของแนวทางปฏิบัติของ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คือ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“3 </a:t>
            </a:r>
            <a:r>
              <a:rPr lang="en-US" altLang="ja-JP" dirty="0" err="1">
                <a:latin typeface="Tahoma" pitchFamily="34" charset="0"/>
                <a:ea typeface="Tahoma" pitchFamily="34" charset="0"/>
                <a:cs typeface="Tahoma" pitchFamily="34" charset="0"/>
              </a:rPr>
              <a:t>ji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spirit”</a:t>
            </a:r>
          </a:p>
          <a:p>
            <a:pPr defTabSz="927068">
              <a:defRPr/>
            </a:pP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การริเริ่มด้วยตนเอง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การปกครองตนเอง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การตระหนักด้วยตนเอง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</a:t>
            </a: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ถูกถ่ายทอดมาเป็น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　“</a:t>
            </a:r>
            <a:r>
              <a:rPr kumimoji="1" lang="en-US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 </a:t>
            </a:r>
            <a:r>
              <a:rPr kumimoji="1" lang="en-US" altLang="ja-JP" dirty="0" err="1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ji</a:t>
            </a:r>
            <a:r>
              <a:rPr kumimoji="1" lang="en-US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spirit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</a:t>
            </a: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  <a:p>
            <a:pPr defTabSz="927068">
              <a:defRPr/>
            </a:pP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จิตวิญญาณนี้เป็น</a:t>
            </a:r>
            <a:r>
              <a:rPr lang="th-TH" altLang="ja-JP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ปรัชญาการบริหารจัดการที่มีหลักให้เกียรติผู้อื่นของ </a:t>
            </a:r>
            <a:r>
              <a:rPr lang="en-US" altLang="ja-JP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Canon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รู้หรือไม่ว่ามีลำดับ</a:t>
            </a:r>
            <a:r>
              <a:rPr lang="th-TH" altLang="ja-JP" baseline="0" dirty="0">
                <a:latin typeface="Tahoma" pitchFamily="34" charset="0"/>
                <a:ea typeface="Tahoma" pitchFamily="34" charset="0"/>
                <a:cs typeface="Tahoma" pitchFamily="34" charset="0"/>
              </a:rPr>
              <a:t> ?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เริ่มจากซ้ายคือ 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การริเริ่มด้วยตนเอง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การปกครองตนเอง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การตระหนักด้วยตนเอง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</a:t>
            </a: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ลำดับตรงกันข้ามก็มีความหมายเหมือนกัน</a:t>
            </a:r>
            <a:r>
              <a:rPr kumimoji="1" lang="th-TH" altLang="ja-JP" baseline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แต่ที่ </a:t>
            </a:r>
            <a:r>
              <a:rPr kumimoji="1" lang="en-US" altLang="ja-JP" baseline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kumimoji="1" lang="th-TH" altLang="ja-JP" baseline="0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เป็นลำดับนี้ </a:t>
            </a:r>
            <a:endParaRPr kumimoji="1" lang="en-US" altLang="ja-JP" b="1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นั้นเป็นเพราะว่า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ให้ความสำคัญกับ 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การริเริ่มด้วยตนเอง</a:t>
            </a:r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”</a:t>
            </a: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ที่สุด</a:t>
            </a:r>
            <a:endParaRPr kumimoji="1" lang="en-US" altLang="ja-JP" b="1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ทุกคนมีการพูดถึง</a:t>
            </a:r>
            <a:r>
              <a:rPr kumimoji="1" lang="en-US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3 </a:t>
            </a:r>
            <a:r>
              <a:rPr kumimoji="1" lang="en-US" altLang="ja-JP" dirty="0" err="1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ji</a:t>
            </a:r>
            <a:r>
              <a:rPr kumimoji="1" lang="en-US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spirit</a:t>
            </a:r>
            <a:r>
              <a:rPr kumimoji="1" lang="th-TH" altLang="ja-JP" dirty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และได้รับการบ่งชี้เรื่องที่ยังทำกันไม่ได้ รู้หรือไม่ว่าสิ่งที่พูดถึงก็คือเรื่องของการริเริ่มด้วยตนเอง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ดังนั้นสิ่งที่อยากให้ทุกคนระวังคือ ถึงแม้จะให้ความสำคัญกับ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 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การริเริ่มด้วยตนเอง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”</a:t>
            </a: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ก็ตามการ “ริเริ่มด้วยตนเอง”แบบสุ่มสี่สุ่มห้าก็จะเป็นปัญหา</a:t>
            </a:r>
            <a:endParaRPr kumimoji="1" lang="en-US" altLang="ja-JP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การเหมือนเด็กเล็กที่คึกคะนองที่ไม่ว่าอะไรก็ยกมือขึ้นทั้งๆที่ตอบไม่ได้นั้นเป็นปัญหาใช่หรือไม่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ดังนั้นต้องเป็น “การริเริ่มด้วยตนเอง” ที่มี “การตระหนักด้วยตนเอง, มีการริริ่มด้วยตนเองที่มีการปกครองตนเอง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ja-JP" altLang="en-US" dirty="0">
                <a:solidFill>
                  <a:schemeClr val="tx1"/>
                </a:solidFill>
                <a:latin typeface="Tahoma" pitchFamily="34" charset="0"/>
                <a:ea typeface="Meiryo UI" pitchFamily="50" charset="-128"/>
                <a:cs typeface="Tahoma" pitchFamily="34" charset="0"/>
              </a:rPr>
              <a:t>☆</a:t>
            </a: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แจก </a:t>
            </a:r>
            <a:r>
              <a:rPr kumimoji="0"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Renaissance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แล้วอธิบายเนื้อหาคร่าวๆ</a:t>
            </a:r>
            <a:endParaRPr kumimoji="1" lang="en-US" altLang="ja-JP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kumimoji="1"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เช่น </a:t>
            </a:r>
            <a:r>
              <a:rPr kumimoji="1"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Episode</a:t>
            </a:r>
            <a:r>
              <a:rPr kumimoji="1"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ของ</a:t>
            </a:r>
            <a:r>
              <a:rPr kumimoji="1"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Trainer</a:t>
            </a:r>
            <a:r>
              <a:rPr kumimoji="1"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เอง</a:t>
            </a:r>
            <a:r>
              <a:rPr kumimoji="1" lang="th-TH" altLang="ja-JP" baseline="0" dirty="0">
                <a:latin typeface="Tahoma" pitchFamily="34" charset="0"/>
                <a:ea typeface="Tahoma" pitchFamily="34" charset="0"/>
                <a:cs typeface="Tahoma" pitchFamily="34" charset="0"/>
              </a:rPr>
              <a:t> ให้อธิบายหลังจากชี้แนะรายงานกลุ่มเสร็จ</a:t>
            </a:r>
            <a:endParaRPr kumimoji="1"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kumimoji="1"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33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687388" y="804863"/>
            <a:ext cx="5360987" cy="4022725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>
          <a:xfrm>
            <a:off x="127522" y="5098898"/>
            <a:ext cx="6480720" cy="5435971"/>
          </a:xfrm>
        </p:spPr>
        <p:txBody>
          <a:bodyPr>
            <a:noAutofit/>
          </a:bodyPr>
          <a:lstStyle/>
          <a:p>
            <a:pPr defTabSz="93436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th-TH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3436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4 แนวทางปฏิบัติ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☆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หลังจากนี้จะอธิบาย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４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แนวทางปฏิบัติทีละข้อ ขอให้ใช้กระดาษหน้านี้ 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・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อันดับแรกคือ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หลักความสามารถที่แท้จริง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</a:p>
          <a:p>
            <a:pPr defTabSz="934360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นั้นทุ่มเทให้กับ หลักความสามารถที่แท้จริง ตามที่ทราบว่าไม่มีการแบ่งแยกงานทั่วไปหรืองานรวม ไม่มีการจ่ายค่าตอบแทนตามประวัติการศึกษา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34360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นอกจากนี้ยังมีการจ่ายค่าตอบแทนอย่างเป็นธรรม ยุติธรรมโดยไม่เกี่ยวกับประจำ/ชั่วคราว, อายุเป็นต้น และตอนนี้มีการใช้ “ระบบเงินเดือนตามหน้าที่”ที่เป็นระบบที่ทำให้แสดงหลักความสามารถที่แท้จริงได้ง่ายที่สุด เป็นระบบที่จ่ายค่าตอบแทนโดยการประเมิน(ยุติธรรมเป็นธรรม)คนที่สร้างผลงานที่มีความสามารถที่แท้จริง ไม่ใช่แบบเดิมที่จ่ายตามอายุงาน (คนที่อายุมากได้ค่าตอบแทนสูงเพราะได้เปรียบตรงทักษะด้านประสบการณ์)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ใฝ่หา 4 ประโยค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(VSOP)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เพื่อให้ได้ผลลัพธ์ที่แสดงความสามารถที่แท้จริงของตัวบุคคลโดยยึดระบบนี้ จิตวิญญาณของการท้าทายกับการพัฒนาตนเอง/การขัดเกลาตนเองเป็นสิ่งที่คอยสนับสนุน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หลักความสามารถที่แท้จริงอยู่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sz="11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・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ต่อมา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หลักบุคคลสากล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</a:p>
          <a:p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Keyword ?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・・・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จริงๆแล้วเป็นเรื่องทั่วไป แต่ในที่นี่คือ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การเข้าใจวัฒนธรรมที่แตกต่าง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แล้วการเข้าใจวัฒนธรรมที่แตกต่างคืออะไรละ ?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ถ้าแปลตรงๆก็คือวัฒนธรรมที่แตกต่าง แล้ววัฒนธรรมที่แตกต่างคืออะไรละ?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　⇒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ให้คิด ให้ยกมือหรือระบุก็ได้ คำศัพท์ก็จะมี ประวัติศาสตร์, ระบบบ้านเมือง, ระดับรายได้,กฏหมาย,เชื้อชาติ, อุปนิสั, ขนาด เป็นต้น.....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ความแตกต่างของสิ่งเหล่านี้ก็คือวัฒนธรรม พูดง่ายๆก็คือการเข้าใจสามัญสำนึกและค่านิยมต่างๆที่แตกต่างกัน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แล้วจะทำอย่างไรเพื่อเข้าใจความแตกต่างของสามัญสำนึก (ดูหน้าถัดไปพร้อมอธิบาย)</a:t>
            </a:r>
          </a:p>
          <a:p>
            <a:endParaRPr lang="th-TH" altLang="ja-JP" sz="11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・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คือ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หลักครอบครัวใหม่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หลักครอบครัวก็คงคิดถึงเรื่องนโยบายสวัสดิการ แต่นี้เป็นเพียงแค่บางส่วน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34360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ในที่นี่มีคำว่า “ใหม่”  และส่วนสำคัญของ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keyword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ที่ว่า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เคารพสถานะของกันและกัน  นับถือและเข้าใจกันอย่างลึกซึ้ง ผ่านจิตวิญญาณของการอยู่ร่วมกัน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คือ “ผ่าน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จิตวิญญาณของการอยู่ร่วมกัน” มาตราที่ 1 ใน 17 มาตราที่เป็นรัฐธรรมนูญที่กำหนดโดยเจ้าชาย </a:t>
            </a:r>
            <a:r>
              <a:rPr lang="en-US" altLang="ja-JP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Shotoku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ได้พูดถึงเรื่องของ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การอยู่ร่วมกัน</a:t>
            </a:r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：</a:t>
            </a: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จิตวิญญาณของการอยู่ร่วมกัน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เป็นการสอนให้รู้ว่าการที่มนุษย์เป็นเพื่อกัน สามัคคีกันเป็นสิ่งสำคัญ ไม่ว่าจะเป็นตนเองหรือใครก็ตามถ้ามีอะไรที่ไม่พอใจให้เข้าหากันและทำความเข้าใจกันอย่างตรงไปตรงมาไม่ใช่การตัดสินเฉพาะสิ่งที่ปรากฏเท่านั้น ในยุคสมัยที่หัวหน้าครอบครัวเป็นคนกำหนดทั้งหมดนั้น</a:t>
            </a:r>
            <a:r>
              <a:rPr lang="th-TH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พนักงานคือ</a:t>
            </a:r>
            <a:r>
              <a:rPr lang="th-TH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หนึ่งในสมาชิกของครอบครัวใหญ่นั้นคือ </a:t>
            </a:r>
            <a:r>
              <a:rPr lang="en-US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Canon</a:t>
            </a:r>
            <a:r>
              <a:rPr lang="th-TH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,</a:t>
            </a:r>
            <a:r>
              <a:rPr lang="en-US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  Canon </a:t>
            </a:r>
            <a:r>
              <a:rPr lang="th-TH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เป็นของพนักงานทุกคน </a:t>
            </a:r>
            <a:r>
              <a:rPr lang="th-TH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ความเจริญรุ่งเรืองของ </a:t>
            </a:r>
            <a:r>
              <a:rPr lang="en-US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Canon </a:t>
            </a:r>
            <a:r>
              <a:rPr lang="th-TH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เชื่อมโยงสู่ความเจิรญรุ่งเรืองของพนักงานและครอบครัวของพนักงาน </a:t>
            </a:r>
            <a:r>
              <a:rPr lang="th-TH" altLang="ja-JP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สร้างความสัมพันธ์ของมนุษย์ในอุดมคติโดยให้การเคารพสถานะของฝ่ายตรงข้าม, สร้างความรู้สึกของการเป็นปึกแผ่น, เชื่อใจซึ่งกันและกัน</a:t>
            </a:r>
            <a:r>
              <a:rPr lang="th-TH" altLang="ja-JP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ด้วยจิตวิญญาณนี้</a:t>
            </a:r>
          </a:p>
          <a:p>
            <a:pPr defTabSz="934360">
              <a:defRPr/>
            </a:pP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ขอให้ทุกคนคิดถึงเรื่องนี้ตอนที่ทำงานด้วย  ที่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Canon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เคยเห็นพนักงานใหม่ที่พูดถึงความเห็นของตัวเองโดยไม่สนใจอะไรและรับฟังความเห็นนั้นอย่างเคารพหรือไม่ แล้วทุกคนทำงานภายใต้ความสัมพันธ์แบบนั้นโดยไม่ใส่ใจอะไรหรือไม่ นั้นก็คือ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หลักครอบครัวใหม่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：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ผ่านจิตวิญญาณของการอยู่ร่วมกันที่เป็นเหมือน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Canon </a:t>
            </a:r>
          </a:p>
          <a:p>
            <a:pPr algn="l"/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・</a:t>
            </a: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สุดท้ายคือ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"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หลักสุขภาพอันดับหนึ่ง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"</a:t>
            </a:r>
          </a:p>
          <a:p>
            <a:pPr algn="l"/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นั้นคือ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การที่จะทำงานที่ดีได้สิ่งสำคัญคือการมีร่างกายที่แข็งแรงและสุขภาพจิตที่แข็งแกร่ง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การดูแลตัวเองเป็นประจำทุกวันจะช่วยให้มีสุขภาพที่ดี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ja-JP" altLang="en-US" dirty="0">
                <a:latin typeface="Tahoma" pitchFamily="34" charset="0"/>
                <a:ea typeface="Meiryo UI" pitchFamily="50" charset="-128"/>
                <a:cs typeface="Tahoma" pitchFamily="34" charset="0"/>
              </a:rPr>
              <a:t>●</a:t>
            </a:r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เนื้อหาด้านล่างเป็นประเด็นสำคัญที่อยากจะถ่ายทอดในบทนี้  ต้องกระตุ้นถ่ายทอด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Meiryo UI" pitchFamily="50" charset="-128"/>
                <a:cs typeface="Tahoma" pitchFamily="34" charset="0"/>
              </a:rPr>
              <a:t>แต่ตราบใดที่ดำเนินการโดยเข้าใจความหมายก็จะทำให้มีความสามารถที่แท้จริง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สำหรับ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J3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ที่อยู่ในฐานะของผู้รับผิดชอบหน้าที่การ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Management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ในอนาคตอันใกล้นี้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ขอให้ตระหนักเป็นประจำและขัดเกลา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VSOP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อย่างมีแบบแผนและทำต่อเนื่อง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BE7F13-21F0-43B8-9263-21A2528EA6A2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480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687388" y="804863"/>
            <a:ext cx="5360987" cy="4022725"/>
          </a:xfrm>
        </p:spPr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BE7F13-21F0-43B8-9263-21A2528EA6A2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  <p:sp>
        <p:nvSpPr>
          <p:cNvPr id="6" name="ノート プレースホルダ 2"/>
          <p:cNvSpPr>
            <a:spLocks noGrp="1"/>
          </p:cNvSpPr>
          <p:nvPr>
            <p:ph type="body" idx="3"/>
          </p:nvPr>
        </p:nvSpPr>
        <p:spPr>
          <a:xfrm>
            <a:off x="882520" y="5094805"/>
            <a:ext cx="4850686" cy="4822196"/>
          </a:xfrm>
        </p:spPr>
        <p:txBody>
          <a:bodyPr>
            <a:normAutofit/>
          </a:bodyPr>
          <a:lstStyle/>
          <a:p>
            <a:endParaRPr lang="th-TH" altLang="ja-JP" dirty="0">
              <a:latin typeface="Tahoma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เกี่ยวกับ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Canon DNA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อีกหนึ่งอันที่สำคัญจะแนะนำด้วยเนื่องจากเกี่ยวข้องกับแนวทางปฏิบัติอย่างมาก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คิดว่าคงเคยเห็นในหลายๆที่แล้ว นี่เป็นภาพที่สรุป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DNA 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รู้จักกันหรือเปล่า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คนที่ไม่รู้ขอให้ไปเรียนรู้ด้วย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มีประวัติศาสตรมากว่า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0ปี ในเบื้องหลังที่ทำให้สามารถพัฒนาเติบโตมาได้มี 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185">
              <a:defRPr/>
            </a:pP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ให้เกียรติผู้อื่น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”“</a:t>
            </a:r>
            <a:r>
              <a:rPr lang="th-TH" altLang="ja-JP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ให้ความสำคัญกับเทคโนโลยี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”“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นิสัยของการริเริ่มสิ่งใหม่ๆ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ซึ่งเป็น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Canon DNA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ที่สืบทอดกันมาอย่างยาวนาน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นิสัยของการริเริ่มสิ่งใหม่ๆที่เริ่มต้นในฐานะของบริษัทร่วมทุนนั้นคือการริเริ่มด้วยตนเองของ 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3 </a:t>
            </a:r>
            <a:r>
              <a:rPr lang="en-US" altLang="ja-JP" dirty="0" err="1">
                <a:latin typeface="Tahoma" pitchFamily="34" charset="0"/>
                <a:ea typeface="Tahoma" pitchFamily="34" charset="0"/>
                <a:cs typeface="Tahoma" pitchFamily="34" charset="0"/>
              </a:rPr>
              <a:t>ji</a:t>
            </a: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spirit</a:t>
            </a:r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 คือดำเนินการด้วยตนเอง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defTabSz="927068">
              <a:defRPr/>
            </a:pP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ท่าที่ของการมุ่งสู่การทำให้แตกต่างโดยเทคโนโลยีนั้นซึมซับอย่างลึก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มีการนำเสนอสิ่งใหม่ๆให้สังคมอยู่เสมอ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สิ่งที่คอยสนับสนุนคือการให้เกียรติผู้อื่น ดังเช่นหลักความสามารถที่แท้จริง และ หลักสุขภาพอันดับหนึ่ง เป็นต้น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ในรากฐาน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DNA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ที่มีการสืบทอดมาและทำให้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พัฒนามาได้จนถึงตอนนี้เป็นเพราะว่ามี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แนวทางปฏิบัตินั้นเอง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เพื่อการพัฒนาเติบโตอีกใน 100 ปี 200ปีข้างหน้านั้น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Canon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จะทำการถ่ายทอด </a:t>
            </a:r>
            <a:r>
              <a:rPr lang="en-US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DNA </a:t>
            </a:r>
            <a:r>
              <a:rPr lang="th-TH" altLang="ja-JP" dirty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นี้ให้กับคนรุ่นหลังต่อไป</a:t>
            </a:r>
            <a:endParaRPr lang="en-US" altLang="ja-JP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22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17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0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268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01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1/8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dirty="0">
              <a:latin typeface="+mn-lt"/>
              <a:ea typeface="+mn-ea"/>
            </a:endParaRPr>
          </a:p>
          <a:p>
            <a:r>
              <a:rPr lang="en-US" dirty="0">
                <a:latin typeface="+mn-lt"/>
                <a:ea typeface="+mn-ea"/>
              </a:rPr>
              <a:t>Compliance </a:t>
            </a:r>
            <a:r>
              <a:rPr lang="th-TH" dirty="0">
                <a:latin typeface="+mn-lt"/>
                <a:ea typeface="+mn-ea"/>
              </a:rPr>
              <a:t>คือ </a:t>
            </a:r>
            <a:endParaRPr lang="en-US" dirty="0">
              <a:latin typeface="+mn-lt"/>
              <a:ea typeface="+mn-ea"/>
            </a:endParaRPr>
          </a:p>
          <a:p>
            <a:r>
              <a:rPr lang="th-TH" dirty="0">
                <a:latin typeface="+mn-lt"/>
                <a:ea typeface="+mn-ea"/>
              </a:rPr>
              <a:t>การยึดมั่น และ </a:t>
            </a:r>
            <a:r>
              <a:rPr lang="th-TH" b="1" i="1" dirty="0">
                <a:solidFill>
                  <a:srgbClr val="FF0000"/>
                </a:solidFill>
                <a:latin typeface="+mn-lt"/>
                <a:ea typeface="+mn-ea"/>
              </a:rPr>
              <a:t>ปฎิบัติตามกฎหมายและ ข้อบังคับต่างๆของบริษัท</a:t>
            </a:r>
          </a:p>
          <a:p>
            <a:r>
              <a:rPr lang="th-TH" dirty="0">
                <a:latin typeface="+mn-lt"/>
                <a:ea typeface="+mn-ea"/>
              </a:rPr>
              <a:t>ตาม ความเข้าใจ ใน</a:t>
            </a:r>
            <a:r>
              <a:rPr lang="th-TH" i="1" dirty="0">
                <a:latin typeface="+mn-lt"/>
                <a:ea typeface="+mn-ea"/>
              </a:rPr>
              <a:t>จริยธรรมองค์กร </a:t>
            </a:r>
            <a:r>
              <a:rPr lang="th-TH" dirty="0">
                <a:latin typeface="+mn-lt"/>
                <a:ea typeface="+mn-ea"/>
              </a:rPr>
              <a:t>และ ความคาดหวังทางสังคม ต่างๆ รวมถึงการจัดการระบบการปฎิบัติงานขององค์กรให้สอดคล้องและตอบสนองต่อสิ่งต่างๆ และดำเนินธุรกิจให้มีความยืดหยุ่นสอดคล้องกับสถานการณ์ต่างๆ ที่เกิดขึ้น</a:t>
            </a:r>
            <a:endParaRPr lang="en-US" dirty="0">
              <a:latin typeface="+mn-lt"/>
              <a:ea typeface="+mn-ea"/>
            </a:endParaRPr>
          </a:p>
          <a:p>
            <a:endParaRPr lang="th-TH" dirty="0"/>
          </a:p>
          <a:p>
            <a:r>
              <a:rPr lang="th-TH" dirty="0"/>
              <a:t>โดยมีหลักปฏบัติ 5 ข้อด้วยกันดังต่อไปนี้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7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359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359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02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2/8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359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pPr marL="226840" indent="-226840">
              <a:buAutoNum type="arabicPeriod"/>
            </a:pPr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การปฏิบัติตามกฎหมายและจริยธรรมบริษัท</a:t>
            </a:r>
            <a:r>
              <a:rPr lang="en-US" altLang="ja-JP" b="1" dirty="0">
                <a:latin typeface="Angsana New" pitchFamily="18" charset="-34"/>
                <a:ea typeface="MS PGothic" pitchFamily="34" charset="-128"/>
                <a:cs typeface="AngsanaUPC" pitchFamily="18" charset="-34"/>
              </a:rPr>
              <a:t> </a:t>
            </a:r>
            <a:endParaRPr lang="th-TH" altLang="ja-JP" b="1" dirty="0">
              <a:latin typeface="Angsana New" pitchFamily="18" charset="-34"/>
              <a:ea typeface="MS PGothic" pitchFamily="34" charset="-128"/>
              <a:cs typeface="AngsanaUPC" pitchFamily="18" charset="-34"/>
            </a:endParaRPr>
          </a:p>
          <a:p>
            <a:r>
              <a:rPr lang="th-TH" dirty="0">
                <a:latin typeface="+mn-lt"/>
                <a:ea typeface="+mn-ea"/>
              </a:rPr>
              <a:t>1.1พนักงานในบริษัทแคนนอนต้องปฏิบัติงานอย่าง</a:t>
            </a:r>
            <a:r>
              <a:rPr lang="th-TH" u="sng" dirty="0">
                <a:latin typeface="+mn-lt"/>
                <a:ea typeface="+mn-ea"/>
              </a:rPr>
              <a:t>ซื่อสัตย์และยุติธรรมไม่เกี่ยวข้องกับพฤติกรรมที่ไม่เหมาะสม</a:t>
            </a:r>
            <a:r>
              <a:rPr lang="th-TH" dirty="0">
                <a:latin typeface="+mn-lt"/>
                <a:ea typeface="+mn-ea"/>
              </a:rPr>
              <a:t>และขัดต่อจริยธรรมองค์กร ยกตัวอย่างเช่น </a:t>
            </a:r>
            <a:r>
              <a:rPr lang="th-TH" b="1" i="1" dirty="0">
                <a:latin typeface="+mn-lt"/>
                <a:ea typeface="+mn-ea"/>
              </a:rPr>
              <a:t>ห้ามใช้โทรศัพท์ส่วนตัวในเวลางาน</a:t>
            </a:r>
            <a:r>
              <a:rPr lang="en-US" b="1" i="1" dirty="0">
                <a:latin typeface="+mn-lt"/>
                <a:ea typeface="+mn-ea"/>
              </a:rPr>
              <a:t>, </a:t>
            </a:r>
            <a:r>
              <a:rPr lang="th-TH" b="1" i="1" dirty="0">
                <a:latin typeface="+mn-lt"/>
                <a:ea typeface="+mn-ea"/>
              </a:rPr>
              <a:t>ไม่รูดบัตร หรือรูดบัตรแทนกัน</a:t>
            </a:r>
          </a:p>
          <a:p>
            <a:r>
              <a:rPr lang="th-TH" dirty="0">
                <a:latin typeface="+mn-lt"/>
                <a:ea typeface="+mn-ea"/>
              </a:rPr>
              <a:t>1.2พนักงานต้องมีความเข้าใจในกฎหมายต่างๆที่บังคับใช้ในพื้นที่ที่ดำเนินกิจการอย่างถ่องแท้ ยังรวมถึง กฎ และข้อบังคับอื่นๆของบริษัท โดยจะต้องปฎิบัติตามกฎและข้อบังคับต่างๆข้างต้นนั้นอย่างเคร่งครัด ยกตัวอย่างเช่น </a:t>
            </a:r>
            <a:r>
              <a:rPr lang="th-TH" b="1" i="1" dirty="0">
                <a:latin typeface="+mn-lt"/>
                <a:ea typeface="+mn-ea"/>
              </a:rPr>
              <a:t>เกี่ยวกับสิ่งแวดล้อม การควบคุมปล่อยของเสียมลพิษ หรือเกี่ยวกับระบบสารสนเทศ การละเมิดลิขสิทธิ์ซอฟแวร์ เป็นต้น</a:t>
            </a:r>
          </a:p>
          <a:p>
            <a:r>
              <a:rPr lang="th-TH" dirty="0">
                <a:latin typeface="+mn-lt"/>
                <a:ea typeface="+mn-ea"/>
              </a:rPr>
              <a:t>1.3การใช้กฎหมายหรือข้อบังคับต่างๆนั้นหากพบว่ามีความกำกวมในการนำไปบังคับใช้งานพนักงานสามารถขอรับคาแนะนำจากส่วนงานที่รับผิดชอบโดยตรง ยกตัวอย่างเช่น </a:t>
            </a:r>
            <a:r>
              <a:rPr lang="th-TH" b="1" i="1" dirty="0">
                <a:latin typeface="+mn-lt"/>
                <a:ea typeface="+mn-ea"/>
              </a:rPr>
              <a:t>พนักงานต้องมีความเข้าใจในกฎหมายและข้อบังคับต่างๆที่เกี่ยวกับบริษัท และไม่นิ่งเฉยเมื่อพบเห็นการกระทำที่ผิดกฎหมาย หรือกฎข้อบังคับต่างๆของบริษัท</a:t>
            </a:r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36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268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3/8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2.การควบคุมดูแลทรัพย์สินของบริษัท</a:t>
            </a:r>
          </a:p>
          <a:p>
            <a:r>
              <a:rPr lang="th-TH" dirty="0">
                <a:latin typeface="+mn-lt"/>
                <a:ea typeface="+mn-ea"/>
              </a:rPr>
              <a:t>พนักงานในบริษัทแคนนอนต้องรักษาทรัพย์สินของบริษัทอย่างเต็ม ความสามารถให้สอดคล้องกับกฎที่บริษัทตั้งไว้ </a:t>
            </a:r>
          </a:p>
          <a:p>
            <a:r>
              <a:rPr lang="th-TH" dirty="0">
                <a:latin typeface="+mn-lt"/>
                <a:ea typeface="+mn-ea"/>
              </a:rPr>
              <a:t>• ไม่นำทรัพย์สินของบริษัทกลับบ้าน หรือนำไปขายก่อนได้รับอนุญาต </a:t>
            </a:r>
          </a:p>
          <a:p>
            <a:r>
              <a:rPr lang="th-TH" dirty="0">
                <a:latin typeface="+mn-lt"/>
                <a:ea typeface="+mn-ea"/>
              </a:rPr>
              <a:t>• ไม่ใช้ทรัพย์สินของบริษัทในเรื่องส่วนตัว </a:t>
            </a:r>
          </a:p>
          <a:p>
            <a:r>
              <a:rPr lang="th-TH" dirty="0">
                <a:latin typeface="+mn-lt"/>
                <a:ea typeface="+mn-ea"/>
              </a:rPr>
              <a:t>ทรัพย์สินบริษัท หมายถึง </a:t>
            </a:r>
          </a:p>
          <a:p>
            <a:r>
              <a:rPr lang="th-TH" dirty="0">
                <a:latin typeface="+mn-lt"/>
                <a:ea typeface="+mn-ea"/>
              </a:rPr>
              <a:t> ผลิตภัณฑ์ สินค้า วัสดุสิ้นเปลือง  ระบบคอมพิวเตอร์และซอฟท์แวร์เครื่องมือและอุปกรณ์พื้นฐานด้านการติดต่อ </a:t>
            </a:r>
          </a:p>
          <a:p>
            <a:r>
              <a:rPr lang="th-TH" dirty="0">
                <a:latin typeface="+mn-lt"/>
                <a:ea typeface="+mn-ea"/>
              </a:rPr>
              <a:t> สิ่งอานวยความสะดวกในการทำงาน  โทรศัพท์ อุปกรณ์สื่อสารไร้สาย เครื่องถ่ายเอกสาร ยานพาหนะของบริษัท </a:t>
            </a:r>
          </a:p>
          <a:p>
            <a:endParaRPr lang="th-TH" dirty="0">
              <a:latin typeface="+mn-lt"/>
              <a:ea typeface="+mn-ea"/>
            </a:endParaRPr>
          </a:p>
          <a:p>
            <a:r>
              <a:rPr lang="th-TH" b="1" dirty="0">
                <a:latin typeface="+mn-lt"/>
                <a:ea typeface="+mn-ea"/>
              </a:rPr>
              <a:t>ต้องรักษาทรัพย์สินของบริษัทอย่างเต็มความสามารถ</a:t>
            </a:r>
          </a:p>
          <a:p>
            <a:r>
              <a:rPr lang="th-TH" b="1" dirty="0">
                <a:latin typeface="+mn-lt"/>
                <a:ea typeface="+mn-ea"/>
              </a:rPr>
              <a:t>1.ดูแลทรัพย์สินที่ลูกค้ายืมไปอย่างครบถ้วนและเหมาะสม</a:t>
            </a:r>
            <a:endParaRPr lang="th-TH" dirty="0">
              <a:latin typeface="+mn-lt"/>
              <a:ea typeface="+mn-ea"/>
            </a:endParaRPr>
          </a:p>
          <a:p>
            <a:r>
              <a:rPr lang="th-TH" b="1" dirty="0">
                <a:latin typeface="+mn-lt"/>
                <a:ea typeface="+mn-ea"/>
              </a:rPr>
              <a:t>2.การระมัดระวังการใช้โลโก้</a:t>
            </a:r>
            <a:endParaRPr lang="th-TH" dirty="0">
              <a:latin typeface="+mn-lt"/>
              <a:ea typeface="+mn-ea"/>
            </a:endParaRPr>
          </a:p>
          <a:p>
            <a:r>
              <a:rPr lang="th-TH" b="1" dirty="0">
                <a:latin typeface="+mn-lt"/>
                <a:ea typeface="+mn-ea"/>
              </a:rPr>
              <a:t>3.มีการจัดการทรัพย์สินภายในแผนกอย่างเหมาะสม</a:t>
            </a:r>
            <a:endParaRPr lang="th-TH" dirty="0">
              <a:latin typeface="+mn-lt"/>
              <a:ea typeface="+mn-ea"/>
            </a:endParaRPr>
          </a:p>
          <a:p>
            <a:r>
              <a:rPr lang="th-TH" b="1" dirty="0">
                <a:latin typeface="+mn-lt"/>
                <a:ea typeface="+mn-ea"/>
              </a:rPr>
              <a:t>4.ไม่นำทรัพย์สินของบริษัทกลับบ้าน</a:t>
            </a:r>
            <a:endParaRPr lang="th-TH" dirty="0">
              <a:latin typeface="+mn-lt"/>
              <a:ea typeface="+mn-ea"/>
            </a:endParaRPr>
          </a:p>
          <a:p>
            <a:endParaRPr lang="th-TH" dirty="0">
              <a:latin typeface="+mn-lt"/>
              <a:ea typeface="+mn-ea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49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268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04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05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4/8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3.การจัดการข้อมูล ข่าวสาร</a:t>
            </a:r>
          </a:p>
          <a:p>
            <a:r>
              <a:rPr lang="th-TH" dirty="0">
                <a:latin typeface="+mn-lt"/>
                <a:ea typeface="+mn-ea"/>
              </a:rPr>
              <a:t>พนักงานในบริษัทแคนนอนต้องรักษาข้อมูลความลับของบริษัท ซึ่งรวมถึงข้อมูลส่วนตัว ทุกคนต้องปฎิบัติตามขั้นตอนการให้ข้อมูลที่บริษัทกาหนดไว้</a:t>
            </a:r>
          </a:p>
          <a:p>
            <a:r>
              <a:rPr lang="th-TH" dirty="0">
                <a:latin typeface="+mn-lt"/>
                <a:ea typeface="+mn-ea"/>
              </a:rPr>
              <a:t>ไม่พูดเรื่องปัญหาภายในบริษัท เมื่อไปงานเลี้ยงนอกสถานที่</a:t>
            </a:r>
          </a:p>
          <a:p>
            <a:r>
              <a:rPr lang="th-TH" dirty="0">
                <a:latin typeface="+mn-lt"/>
                <a:ea typeface="+mn-ea"/>
              </a:rPr>
              <a:t>ไม่ให้ข้อมูลที่เป็นผลเสียกับภาพลักษณ์ของบริษัท</a:t>
            </a:r>
          </a:p>
          <a:p>
            <a:r>
              <a:rPr lang="th-TH" dirty="0">
                <a:latin typeface="+mn-lt"/>
                <a:ea typeface="+mn-ea"/>
              </a:rPr>
              <a:t>ข้อมูลความลับของบริษัท</a:t>
            </a:r>
            <a:r>
              <a:rPr lang="th-TH" u="sng" dirty="0">
                <a:latin typeface="+mn-lt"/>
                <a:ea typeface="+mn-ea"/>
              </a:rPr>
              <a:t>ไม่สามารถเปิดเผย</a:t>
            </a:r>
            <a:r>
              <a:rPr lang="th-TH" dirty="0">
                <a:latin typeface="+mn-lt"/>
                <a:ea typeface="+mn-ea"/>
              </a:rPr>
              <a:t>หรือแจ้งให้ผู้อื่นทราบ ดังตัวอย่าง</a:t>
            </a:r>
          </a:p>
          <a:p>
            <a:r>
              <a:rPr lang="th-TH" dirty="0">
                <a:latin typeface="+mn-lt"/>
                <a:ea typeface="+mn-ea"/>
              </a:rPr>
              <a:t>1. ข้อมูลของพนักงาน</a:t>
            </a:r>
          </a:p>
          <a:p>
            <a:r>
              <a:rPr lang="th-TH" dirty="0">
                <a:latin typeface="+mn-lt"/>
                <a:ea typeface="+mn-ea"/>
              </a:rPr>
              <a:t>2.เอกสารสัญญาต่างๆ</a:t>
            </a:r>
          </a:p>
          <a:p>
            <a:r>
              <a:rPr lang="th-TH" dirty="0">
                <a:latin typeface="+mn-lt"/>
                <a:ea typeface="+mn-ea"/>
              </a:rPr>
              <a:t>3.การเปิดตัวผลิตภัณฑ์ใหม่/ สิ่งประดิษฐ์</a:t>
            </a:r>
          </a:p>
          <a:p>
            <a:r>
              <a:rPr lang="th-TH" dirty="0">
                <a:latin typeface="+mn-lt"/>
                <a:ea typeface="+mn-ea"/>
              </a:rPr>
              <a:t>4.การควบรวมและซื้อกิจการ </a:t>
            </a:r>
          </a:p>
          <a:p>
            <a:r>
              <a:rPr lang="th-TH" dirty="0">
                <a:latin typeface="+mn-lt"/>
                <a:ea typeface="+mn-ea"/>
              </a:rPr>
              <a:t>5.ข้อมูลด้านเทคนิค และด้านคุณภาพ ของผลิตภัณฑ์ </a:t>
            </a:r>
          </a:p>
          <a:p>
            <a:r>
              <a:rPr lang="th-TH" dirty="0">
                <a:latin typeface="+mn-lt"/>
                <a:ea typeface="+mn-ea"/>
              </a:rPr>
              <a:t>6.การตั้งราคา/ ต้นทุนการผลิต</a:t>
            </a:r>
          </a:p>
          <a:p>
            <a:r>
              <a:rPr lang="th-TH" dirty="0">
                <a:latin typeface="+mn-lt"/>
                <a:ea typeface="+mn-ea"/>
              </a:rPr>
              <a:t>7.เอกสารอื่นๆ (ดูจากข้อกำหนด เรื่องการควบคุมเอกสารสาคัญ )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9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268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06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5/8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4.ความขัดแย้งทางผลประโยชน์</a:t>
            </a:r>
            <a:r>
              <a:rPr lang="en-US" altLang="ja-JP" b="1" dirty="0">
                <a:latin typeface="Angsana New" pitchFamily="18" charset="-34"/>
                <a:ea typeface="MS PGothic" pitchFamily="34" charset="-128"/>
                <a:cs typeface="AngsanaUPC" pitchFamily="18" charset="-34"/>
              </a:rPr>
              <a:t>/</a:t>
            </a:r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การแบ่งแยกระหว่างเรื่องของบริษัท</a:t>
            </a:r>
            <a:r>
              <a:rPr lang="en-US" altLang="ja-JP" b="1" dirty="0">
                <a:latin typeface="Angsana New" pitchFamily="18" charset="-34"/>
                <a:ea typeface="MS PGothic" pitchFamily="34" charset="-128"/>
                <a:cs typeface="AngsanaUPC" pitchFamily="18" charset="-34"/>
              </a:rPr>
              <a:t> </a:t>
            </a:r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และเรื่องส่วนตัว</a:t>
            </a:r>
          </a:p>
          <a:p>
            <a:r>
              <a:rPr lang="th-TH" dirty="0">
                <a:latin typeface="+mn-lt"/>
                <a:ea typeface="+mn-ea"/>
              </a:rPr>
              <a:t>พนักงานในบริษัทแคนนอนต้องไม่มีผลประโยชน์ส่วนตัวกับบริษัทคู่ค้า </a:t>
            </a:r>
          </a:p>
          <a:p>
            <a:r>
              <a:rPr lang="th-TH" dirty="0">
                <a:latin typeface="+mn-lt"/>
                <a:ea typeface="+mn-ea"/>
              </a:rPr>
              <a:t>คู่เจรจาในสัญญาทางธุรกิจต่างๆ เพื่อหลีกเลี่ยงคำครหาในเรื่องความไม่ซื่อสัตย์</a:t>
            </a:r>
          </a:p>
          <a:p>
            <a:pPr marL="226817" indent="-226817">
              <a:buAutoNum type="arabicPeriod"/>
            </a:pPr>
            <a:r>
              <a:rPr lang="th-TH" dirty="0">
                <a:latin typeface="+mn-lt"/>
                <a:ea typeface="+mn-ea"/>
              </a:rPr>
              <a:t>ควรหลีกเลี่ยงการให้หรือรับสิ่งของ หรือ ประโยชน์ใดๆ จากคู่ค้า ที่มีส่วนเกี่ยวข้องกับการทาธุรกิจของบริษัท</a:t>
            </a:r>
          </a:p>
          <a:p>
            <a:pPr marL="226817" indent="-226817">
              <a:buAutoNum type="arabicPeriod"/>
            </a:pPr>
            <a:r>
              <a:rPr lang="th-TH" dirty="0">
                <a:latin typeface="+mn-lt"/>
                <a:ea typeface="+mn-ea"/>
              </a:rPr>
              <a:t>ควรหลีกเลี่ยงการให้หรือการเลี้ยงรับรอง ในลักษณะที่เกินกว่าเหตุปกติจากบุคคลอื่นที่ธุรกิจเกี่ยวข้องกับงานของบริษัท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59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0875" y="800100"/>
            <a:ext cx="5314950" cy="3987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268">
              <a:defRPr/>
            </a:pP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3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．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สิ่งที่ควรกระทำ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-Ⅰ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（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สิ่งที่ถูกเรียกร้องมากยิ่งขึ้น)  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≪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≫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75นาที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4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sheets</a:t>
            </a:r>
            <a:endParaRPr lang="th-TH" altLang="ja-JP" b="1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Compliance</a:t>
            </a:r>
            <a:r>
              <a:rPr lang="th-TH" altLang="ja-JP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 </a:t>
            </a:r>
            <a:r>
              <a:rPr lang="th-TH" altLang="ja-JP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ประมาณ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 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【1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06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～　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13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07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】</a:t>
            </a:r>
            <a:r>
              <a:rPr lang="ja-JP" altLang="en-US" b="1" dirty="0">
                <a:latin typeface="Tahoma" pitchFamily="34" charset="0"/>
                <a:ea typeface="Meiryo UI" pitchFamily="50" charset="-128"/>
                <a:cs typeface="Tahoma" pitchFamily="34" charset="0"/>
              </a:rPr>
              <a:t>　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(1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นาที</a:t>
            </a:r>
            <a:r>
              <a:rPr lang="en-US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)  </a:t>
            </a:r>
            <a:r>
              <a:rPr lang="th-TH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 6/8</a:t>
            </a:r>
            <a:endParaRPr lang="en-US" altLang="ja-JP" dirty="0">
              <a:latin typeface="Tahoma" pitchFamily="34" charset="0"/>
              <a:cs typeface="Tahoma" pitchFamily="34" charset="0"/>
            </a:endParaRPr>
          </a:p>
          <a:p>
            <a:pPr defTabSz="907268">
              <a:defRPr/>
            </a:pPr>
            <a:r>
              <a:rPr lang="en-US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------------------------------------------------------------</a:t>
            </a:r>
            <a:endParaRPr lang="en-US" altLang="ja-JP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endParaRPr lang="th-TH" altLang="ja-JP" b="1" dirty="0">
              <a:latin typeface="Angsana New" pitchFamily="18" charset="-34"/>
              <a:cs typeface="AngsanaUPC" pitchFamily="18" charset="-34"/>
            </a:endParaRPr>
          </a:p>
          <a:p>
            <a:r>
              <a:rPr lang="en-US" altLang="ja-JP" b="1" dirty="0">
                <a:latin typeface="Angsana New" pitchFamily="18" charset="-34"/>
                <a:cs typeface="AngsanaUPC" pitchFamily="18" charset="-34"/>
              </a:rPr>
              <a:t>5</a:t>
            </a:r>
            <a:r>
              <a:rPr lang="th-TH" altLang="ja-JP" b="1" dirty="0">
                <a:latin typeface="Angsana New" pitchFamily="18" charset="-34"/>
                <a:cs typeface="AngsanaUPC" pitchFamily="18" charset="-34"/>
              </a:rPr>
              <a:t>.</a:t>
            </a:r>
            <a:r>
              <a:rPr lang="th-TH" altLang="ja-JP" b="1" dirty="0">
                <a:latin typeface="Angsana New" pitchFamily="18" charset="-34"/>
              </a:rPr>
              <a:t> การรักษาและยกระดับสภาพแวดล้อมในสถานที่ทำงาน</a:t>
            </a:r>
          </a:p>
          <a:p>
            <a:r>
              <a:rPr lang="th-TH" dirty="0">
                <a:latin typeface="+mn-lt"/>
                <a:ea typeface="+mn-ea"/>
              </a:rPr>
              <a:t>พนักงานแคนนอนต้องไม่ประพฤติตัวที่ไม่เหมาะสมในที่ทำงาน เช่น การกระทำการละเมิด การข่มขู่คุกคาม การล่วงละเมิดทางเพศ การสบประมาท และการทำให้เสื่อมเสียชื่อเสียง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F925-7D50-4E41-9B76-6E57267B87B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03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055E45-0D81-454F-AB07-07A85C36A06D}" type="slidenum">
              <a:rPr lang="en-US" smtClean="0"/>
              <a:pPr/>
              <a:t>26</a:t>
            </a:fld>
            <a:endParaRPr lang="ja-JP" altLang="th-TH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th-TH" sz="1900"/>
          </a:p>
        </p:txBody>
      </p:sp>
    </p:spTree>
    <p:extLst>
      <p:ext uri="{BB962C8B-B14F-4D97-AF65-F5344CB8AC3E}">
        <p14:creationId xmlns:p14="http://schemas.microsoft.com/office/powerpoint/2010/main" val="2604185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27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0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7388" y="809625"/>
            <a:ext cx="5360987" cy="4021138"/>
          </a:xfrm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27293">
              <a:defRPr/>
            </a:pPr>
            <a:endParaRPr lang="en-US" altLang="ja-JP" sz="1200" b="1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 defTabSz="927293">
              <a:defRPr/>
            </a:pPr>
            <a:r>
              <a:rPr lang="en-US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Communication </a:t>
            </a: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การริเริ่มสื่อสารจากตนเอง </a:t>
            </a:r>
            <a:r>
              <a:rPr lang="ja-JP" altLang="en-US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＜</a:t>
            </a:r>
            <a:r>
              <a:rPr lang="en-US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13</a:t>
            </a:r>
            <a:r>
              <a:rPr lang="ja-JP" altLang="en-US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：</a:t>
            </a:r>
            <a:r>
              <a:rPr lang="en-US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</a:t>
            </a: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5</a:t>
            </a:r>
            <a:r>
              <a:rPr lang="en-US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-1</a:t>
            </a: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4</a:t>
            </a:r>
            <a:r>
              <a:rPr lang="ja-JP" altLang="en-US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：</a:t>
            </a: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1</a:t>
            </a:r>
            <a:r>
              <a:rPr lang="en-US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0</a:t>
            </a:r>
            <a:r>
              <a:rPr lang="ja-JP" altLang="en-US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＞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Ho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Ren</a:t>
            </a: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So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บทบาทของตนเองในระหว่างการเล่นเกม คิดว่าน่าจะได้ผลที่ดี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ส่วนมากจะไม่ทำการรายงานต่อผู้สั่งการ การที่เรารายงานก่อนที่เขาจะมาถามเป็นเรื่องสำคัญ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พูดบทสรุปก่อน รายงานข่าวร้ายหรือเรื่องที่พูดยากก่อน</a:t>
            </a:r>
          </a:p>
          <a:p>
            <a:pPr>
              <a:spcBef>
                <a:spcPct val="50000"/>
              </a:spcBef>
            </a:pP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จำของรถยนต์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Mitsubishi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หรือเตาแก๊ส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Paloma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คือตัวอย่างที่ดี  เรื่องไม่ดีต้องรีบแจ้งและหามาตรการมารองรับนั้นเป็นเรื่องสำคัญ</a:t>
            </a:r>
            <a:endParaRPr lang="ja-JP" altLang="en-US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ความผิดพลาดเล็กๆจะส่งผลต่อการเกิดอุบัติเหตุ ห้ามทำการปกปิด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 defTabSz="938512">
              <a:spcBef>
                <a:spcPct val="50000"/>
              </a:spcBef>
              <a:defRPr/>
            </a:pP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การรายงานเรื่องร้ายมีส่งผลต่อธุรกิจมากกว่าการรายงานเรื่องดี  อย่าดูจังหวะเวลาผิด</a:t>
            </a:r>
            <a:endParaRPr lang="en-US" altLang="ja-JP" sz="1200" b="1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 defTabSz="938512">
              <a:spcBef>
                <a:spcPct val="50000"/>
              </a:spcBef>
              <a:defRPr/>
            </a:pPr>
            <a:r>
              <a:rPr lang="th-TH" altLang="ja-JP" sz="1200" b="1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การรายงานเรื่องร้ายบางทีก็เป็นเรื่องดี ขึ้นอยู่กับการตีความ </a:t>
            </a: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เวลาสื่อสารให้มีจิตสำนึกในการสื่อสารแบบ </a:t>
            </a:r>
            <a:r>
              <a:rPr lang="en-US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(non-verbal communication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 /</a:t>
            </a:r>
            <a:r>
              <a:rPr lang="th-TH" sz="1200" dirty="0">
                <a:latin typeface="Tahoma" panose="020B0604030504040204" pitchFamily="34" charset="0"/>
                <a:cs typeface="Tahoma" panose="020B0604030504040204" pitchFamily="34" charset="0"/>
              </a:rPr>
              <a:t>การสื่อสารด้วยวาจา</a:t>
            </a:r>
            <a:r>
              <a:rPr 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ทั้งผู้ส่งทั้งผู้รับ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การปรึกษานั้น การถ่ายทอดสาเหตุที่แท้จริงเป็นเรื่องสำคัญ ไม่กลุ้มใจอยู่คนเดียว ต้องปรึกษาผู้อื่น</a:t>
            </a:r>
            <a:endParaRPr lang="en-US" altLang="ja-JP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ja-JP" altLang="en-US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วิธีการคือ ปัญหาที่มีความซับซ้อนให้ทำการแบ่งย่อยออก แล้วมาคิดแก้ไขเป็นเรื่องสำคัญ จัดการที่ละขั้นตอนท้ายสุดก็จะสามารถแก้ไขปัญหาได้</a:t>
            </a:r>
            <a:endParaRPr lang="ja-JP" altLang="en-US" sz="1200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410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33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7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995"/>
            <a:fld id="{65B29F3E-3EAD-442B-8DAC-539DF3DC39C6}" type="slidenum">
              <a:rPr lang="en-US" altLang="ja-JP" smtClean="0">
                <a:ea typeface="ＭＳ Ｐゴシック" charset="-128"/>
              </a:rPr>
              <a:pPr defTabSz="903995"/>
              <a:t>38</a:t>
            </a:fld>
            <a:endParaRPr lang="en-US" altLang="ja-JP" dirty="0">
              <a:ea typeface="ＭＳ Ｐゴシック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7700" y="798513"/>
            <a:ext cx="5319713" cy="3990975"/>
          </a:xfrm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510" y="5058207"/>
            <a:ext cx="4971425" cy="5587485"/>
          </a:xfrm>
          <a:noFill/>
          <a:ln/>
        </p:spPr>
        <p:txBody>
          <a:bodyPr/>
          <a:lstStyle/>
          <a:p>
            <a:endParaRPr lang="ja-JP" altLang="en-US" sz="900" dirty="0">
              <a:latin typeface="Tahoma" pitchFamily="34" charset="0"/>
              <a:ea typeface="Meiryo UI" pitchFamily="50" charset="-128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22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CE9CC-F1E5-4E59-B1B4-3C9032DCF667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1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7A2CE-6352-4767-8364-914F7202626C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3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A4AB3-AE3A-4BB7-85A9-A48272DB5326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3E55A-44EE-4284-9C53-9F8B5FD3747F}" type="datetime1">
              <a:rPr lang="en-US" smtClean="0"/>
              <a:t>23/9/2026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1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B7F8-58FC-4543-960D-8CF00C417A18}" type="datetime1">
              <a:rPr lang="en-US" smtClean="0"/>
              <a:t>23/9/2026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7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E6FF4-9D4A-427C-B292-589643F1D9AC}" type="datetime1">
              <a:rPr lang="en-US" smtClean="0"/>
              <a:t>23/9/2026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2E780-0913-4BE8-ADB2-2AF46C930FBE}" type="datetime1">
              <a:rPr lang="en-US" smtClean="0"/>
              <a:t>23/9/2026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5FA1-D1B8-47D9-AB69-152A07D0D77F}" type="datetime1">
              <a:rPr lang="en-US" smtClean="0"/>
              <a:t>23/9/2026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6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1113C-9F86-40C1-92E8-7FB936E5B3CC}" type="datetime1">
              <a:rPr lang="en-US" smtClean="0"/>
              <a:t>23/9/2026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CA38-2E9C-48DC-B9ED-BB27FFA8EEF3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7D83-79AC-4117-9969-40EE808BBFFD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6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671FE-EDDA-43CE-84AA-3642F5B411A7}" type="datetime1">
              <a:rPr lang="en-US" smtClean="0"/>
              <a:t>23/9/2026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5350" y="6486927"/>
            <a:ext cx="628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fld id="{00A407FF-32AA-4FE0-BDDE-2C7FFD89B7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u Gothic" panose="020B0400000000000000" pitchFamily="34" charset="-128"/>
          <a:ea typeface="Yu Gothic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.jobsdb.com/th-th/articles/%e0%b8%81%e0%b8%8e%e0%b8%ab%e0%b8%a1%e0%b8%b2%e0%b8%a2%e0%b9%81%e0%b8%a3%e0%b8%87%e0%b8%87%e0%b8%b2%e0%b8%99%e0%b8%84%e0%b8%a7%e0%b8%a3%e0%b8%a3%e0%b8%b9%e0%b9%89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9"/>
          <p:cNvSpPr/>
          <p:nvPr/>
        </p:nvSpPr>
        <p:spPr>
          <a:xfrm>
            <a:off x="2040555" y="2290250"/>
            <a:ext cx="6073541" cy="1371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45720" tIns="45720" rIns="45720" anchor="ctr">
            <a:spAutoFit/>
          </a:bodyPr>
          <a:lstStyle/>
          <a:p>
            <a:pPr>
              <a:defRPr/>
            </a:pPr>
            <a:r>
              <a:rPr lang="en-US" altLang="ja-JP" sz="4062" b="1" dirty="0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ngsana New" panose="02020603050405020304" pitchFamily="18" charset="-34"/>
              </a:rPr>
              <a:t>PREP MANAGEMENT TRAINING 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218443" y="4224154"/>
            <a:ext cx="7219600" cy="1001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ja-JP" sz="2954" b="1" dirty="0">
                <a:solidFill>
                  <a:schemeClr val="bg1">
                    <a:lumMod val="50000"/>
                  </a:schemeClr>
                </a:solidFill>
                <a:latin typeface="+mn-ea"/>
                <a:cs typeface="Angsana New" panose="02020603050405020304" pitchFamily="18" charset="-34"/>
              </a:rPr>
              <a:t>Canon Hi-Tech (Thailand) Ltd. </a:t>
            </a:r>
            <a:endParaRPr lang="th-TH" altLang="ja-JP" sz="2954" b="1" dirty="0">
              <a:solidFill>
                <a:schemeClr val="bg1">
                  <a:lumMod val="50000"/>
                </a:schemeClr>
              </a:solidFill>
              <a:latin typeface="+mn-ea"/>
              <a:cs typeface="Angsana New" panose="02020603050405020304" pitchFamily="18" charset="-34"/>
            </a:endParaRPr>
          </a:p>
          <a:p>
            <a:pPr algn="ctr">
              <a:defRPr/>
            </a:pPr>
            <a:r>
              <a:rPr lang="en-US" altLang="ja-JP" sz="2954" b="1" dirty="0">
                <a:solidFill>
                  <a:schemeClr val="bg1">
                    <a:lumMod val="50000"/>
                  </a:schemeClr>
                </a:solidFill>
                <a:latin typeface="+mn-ea"/>
                <a:cs typeface="Angsana New" panose="02020603050405020304" pitchFamily="18" charset="-34"/>
              </a:rPr>
              <a:t>(HRM Div.)</a:t>
            </a:r>
            <a:endParaRPr lang="th-TH" altLang="ja-JP" sz="2954" b="1" dirty="0">
              <a:solidFill>
                <a:schemeClr val="bg1">
                  <a:lumMod val="50000"/>
                </a:schemeClr>
              </a:solidFill>
              <a:latin typeface="+mn-ea"/>
              <a:cs typeface="Angsana New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1</a:t>
            </a:fld>
            <a:endParaRPr lang="en-US"/>
          </a:p>
        </p:txBody>
      </p:sp>
      <p:sp>
        <p:nvSpPr>
          <p:cNvPr id="5" name="正方形/長方形 9"/>
          <p:cNvSpPr/>
          <p:nvPr/>
        </p:nvSpPr>
        <p:spPr>
          <a:xfrm>
            <a:off x="566286" y="2290250"/>
            <a:ext cx="1474269" cy="1371600"/>
          </a:xfrm>
          <a:prstGeom prst="rect">
            <a:avLst/>
          </a:prstGeom>
          <a:solidFill>
            <a:schemeClr val="tx1"/>
          </a:solidFill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altLang="ja-JP" sz="8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ngsana New" panose="02020603050405020304" pitchFamily="18" charset="-34"/>
              </a:rPr>
              <a:t>J2</a:t>
            </a:r>
            <a:endParaRPr lang="th-TH" altLang="ja-JP" sz="8000" b="1" dirty="0">
              <a:solidFill>
                <a:schemeClr val="accent1">
                  <a:lumMod val="20000"/>
                  <a:lumOff val="80000"/>
                </a:schemeClr>
              </a:solidFill>
              <a:latin typeface="Yu Gothic" panose="020B0400000000000000" pitchFamily="34" charset="-128"/>
              <a:ea typeface="Yu Gothic" panose="020B0400000000000000" pitchFamily="34" charset="-128"/>
              <a:cs typeface="Angsana New" panose="02020603050405020304" pitchFamily="18" charset="-3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89994" y="157655"/>
            <a:ext cx="1715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131FD"/>
                </a:solidFill>
                <a:latin typeface="Gabriola" panose="04040605051002020D02" pitchFamily="82" charset="0"/>
              </a:rPr>
              <a:t>(update: 24.Sep.</a:t>
            </a:r>
            <a:r>
              <a:rPr lang="th-TH" dirty="0">
                <a:solidFill>
                  <a:srgbClr val="D131FD"/>
                </a:solidFill>
                <a:latin typeface="Gabriola" panose="04040605051002020D02" pitchFamily="82" charset="0"/>
              </a:rPr>
              <a:t>202</a:t>
            </a:r>
            <a:r>
              <a:rPr lang="en-US" dirty="0">
                <a:solidFill>
                  <a:srgbClr val="D131FD"/>
                </a:solidFill>
                <a:latin typeface="Gabriola" panose="04040605051002020D02" pitchFamily="82" charset="0"/>
              </a:rPr>
              <a:t>6)</a:t>
            </a:r>
          </a:p>
        </p:txBody>
      </p:sp>
    </p:spTree>
    <p:extLst>
      <p:ext uri="{BB962C8B-B14F-4D97-AF65-F5344CB8AC3E}">
        <p14:creationId xmlns:p14="http://schemas.microsoft.com/office/powerpoint/2010/main" val="47375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2060"/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</a:rPr>
              <a:t>Canon Compliance</a:t>
            </a:r>
            <a:endParaRPr lang="en-US" sz="1400" dirty="0">
              <a:solidFill>
                <a:srgbClr val="00206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3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002060"/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Canon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5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6600" dirty="0">
                <a:solidFill>
                  <a:srgbClr val="C0000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สรุปความเข้าใจ</a:t>
            </a:r>
            <a:endParaRPr lang="en-US" sz="6600" dirty="0">
              <a:solidFill>
                <a:srgbClr val="C00000"/>
              </a:solidFill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6" y="1562644"/>
            <a:ext cx="8747897" cy="1302585"/>
          </a:xfrm>
          <a:ln>
            <a:solidFill>
              <a:srgbClr val="C00000"/>
            </a:solidFill>
          </a:ln>
        </p:spPr>
        <p:txBody>
          <a:bodyPr lIns="91440" tIns="91440" rIns="91440" bIns="91440">
            <a:normAutofit fontScale="475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What </a:t>
            </a:r>
            <a:r>
              <a:rPr lang="en-US" sz="4400" b="1" dirty="0">
                <a:solidFill>
                  <a:srgbClr val="FF0000"/>
                </a:solidFill>
              </a:rPr>
              <a:t>differences</a:t>
            </a:r>
            <a:r>
              <a:rPr lang="en-US" sz="4400" b="1" dirty="0"/>
              <a:t> of Role &amp; Responsibility between J2 vs J3 ?</a:t>
            </a:r>
          </a:p>
          <a:p>
            <a:pPr marL="457200" lvl="1" indent="0" algn="ctr">
              <a:buNone/>
            </a:pPr>
            <a:r>
              <a:rPr lang="th-TH" sz="6400" b="1" dirty="0">
                <a:solidFill>
                  <a:schemeClr val="accent5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ความแตกต่างระหว่าง </a:t>
            </a:r>
            <a:r>
              <a:rPr lang="en-US" sz="6400" b="1" dirty="0">
                <a:solidFill>
                  <a:schemeClr val="accent5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J2 </a:t>
            </a:r>
            <a:r>
              <a:rPr lang="th-TH" sz="6400" b="1" dirty="0">
                <a:solidFill>
                  <a:schemeClr val="accent5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และ </a:t>
            </a:r>
            <a:r>
              <a:rPr lang="en-US" sz="6400" b="1" dirty="0">
                <a:solidFill>
                  <a:schemeClr val="accent5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J3 </a:t>
            </a:r>
            <a:r>
              <a:rPr lang="th-TH" sz="6400" b="1" dirty="0">
                <a:solidFill>
                  <a:schemeClr val="accent5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ในแต่ละด้าน</a:t>
            </a:r>
            <a:endParaRPr lang="en-US" sz="6400" b="1" dirty="0">
              <a:solidFill>
                <a:schemeClr val="accent5">
                  <a:lumMod val="75000"/>
                </a:schemeClr>
              </a:solidFill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09250"/>
              </p:ext>
            </p:extLst>
          </p:nvPr>
        </p:nvGraphicFramePr>
        <p:xfrm>
          <a:off x="1035145" y="3187353"/>
          <a:ext cx="7172960" cy="3042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882877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410202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4338689"/>
                    </a:ext>
                  </a:extLst>
                </a:gridCol>
              </a:tblGrid>
              <a:tr h="456600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หัวข้อ</a:t>
                      </a:r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55374"/>
                  </a:ext>
                </a:extLst>
              </a:tr>
              <a:tr h="646267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1)</a:t>
                      </a:r>
                      <a:r>
                        <a:rPr lang="en-US" sz="2800" b="1" baseline="0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</a:t>
                      </a:r>
                      <a:r>
                        <a:rPr lang="th-TH" sz="2800" b="1" baseline="0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บทบาทหน้าที่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457013"/>
                  </a:ext>
                </a:extLst>
              </a:tr>
              <a:tr h="646267">
                <a:tc>
                  <a:txBody>
                    <a:bodyPr/>
                    <a:lstStyle/>
                    <a:p>
                      <a:r>
                        <a:rPr lang="th-TH" sz="2800" b="1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2)</a:t>
                      </a:r>
                      <a:r>
                        <a:rPr lang="th-TH" sz="2800" b="1" baseline="0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ขอบเขตความรับผิดชอบ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227934"/>
                  </a:ext>
                </a:extLst>
              </a:tr>
              <a:tr h="646267">
                <a:tc>
                  <a:txBody>
                    <a:bodyPr/>
                    <a:lstStyle/>
                    <a:p>
                      <a:r>
                        <a:rPr lang="th-TH" sz="2800" b="1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3)</a:t>
                      </a:r>
                      <a:r>
                        <a:rPr lang="th-TH" sz="2800" b="1" baseline="0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ทัศนคติ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803062"/>
                  </a:ext>
                </a:extLst>
              </a:tr>
              <a:tr h="646267">
                <a:tc>
                  <a:txBody>
                    <a:bodyPr/>
                    <a:lstStyle/>
                    <a:p>
                      <a:r>
                        <a:rPr lang="th-TH" sz="2800" b="1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4)</a:t>
                      </a:r>
                      <a:r>
                        <a:rPr lang="th-TH" sz="2800" b="1" baseline="0" dirty="0">
                          <a:solidFill>
                            <a:srgbClr val="00206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อื่น ๆ 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71041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3039"/>
            <a:ext cx="7886700" cy="67528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1. Role &amp; Responsibility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99651"/>
              </p:ext>
            </p:extLst>
          </p:nvPr>
        </p:nvGraphicFramePr>
        <p:xfrm>
          <a:off x="182880" y="1373238"/>
          <a:ext cx="8778240" cy="5339100"/>
        </p:xfrm>
        <a:graphic>
          <a:graphicData uri="http://schemas.openxmlformats.org/drawingml/2006/table">
            <a:tbl>
              <a:tblPr/>
              <a:tblGrid>
                <a:gridCol w="719528">
                  <a:extLst>
                    <a:ext uri="{9D8B030D-6E8A-4147-A177-3AD203B41FA5}">
                      <a16:colId xmlns:a16="http://schemas.microsoft.com/office/drawing/2014/main" val="725954000"/>
                    </a:ext>
                  </a:extLst>
                </a:gridCol>
                <a:gridCol w="8058712">
                  <a:extLst>
                    <a:ext uri="{9D8B030D-6E8A-4147-A177-3AD203B41FA5}">
                      <a16:colId xmlns:a16="http://schemas.microsoft.com/office/drawing/2014/main" val="2634680339"/>
                    </a:ext>
                  </a:extLst>
                </a:gridCol>
              </a:tblGrid>
              <a:tr h="4074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Band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</a:txBody>
                  <a:tcPr marL="4355" marR="4355" marT="3711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th-TH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คำอธิบายการปฏิบัติงาน</a:t>
                      </a:r>
                      <a:r>
                        <a:rPr kumimoji="1" lang="en-US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kumimoji="1" lang="th-TH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บทบาทหน้าที่ และ ความรับผิดชอบ</a:t>
                      </a:r>
                      <a:endParaRPr kumimoji="1" lang="ja-JP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</a:txBody>
                  <a:tcPr marL="4355" marR="4355" marT="3711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457583"/>
                  </a:ext>
                </a:extLst>
              </a:tr>
              <a:tr h="17999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J3</a:t>
                      </a:r>
                      <a:endParaRPr kumimoji="1" lang="en-US" altLang="ja-JP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</a:txBody>
                  <a:tcPr marL="4355" marR="4355" marT="3711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th-TH" altLang="ja-JP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หน้าที่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รวบรวมและขับเคลื่อน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การปฏิบัติงานในขอบเขตที่ได้รับมอบหมาย (เป็นผู้นำการปฏิบัติงานในส่วนที่รับผิดชอบ)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th-TH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th-TH" altLang="ja-JP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ขอบเขตความรับผิดชอบ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วางแผน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ดำเนินการ และปฏิบัติให้แผนการปฏิบัติงานบรรลุเป้าหมาย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แนะแนวทาง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การปฏิบัติงาน วางแผน ขับเคลื่อนสนับสนุนแผนการอบรมเสริมสร้างให้แก่พนักงานผู้ปฏิบัติงาน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ประสานงาน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กับหน่วยงานที่เกี่ยวข้องในเรื่องที่ตนรับผิดชอบ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รวบรวม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การปฏิบัติงานการควบคุมบริหารจัดการ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</a:txBody>
                  <a:tcPr marL="32194" marR="11179" marT="27432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828329"/>
                  </a:ext>
                </a:extLst>
              </a:tr>
              <a:tr h="23349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J2</a:t>
                      </a:r>
                      <a:endParaRPr kumimoji="1" lang="en-US" altLang="ja-JP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</a:txBody>
                  <a:tcPr marL="4355" marR="4355" marT="3711" marB="0" anchor="ctr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th-TH" altLang="ja-JP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หน้าที่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ดำเนินการจนลุล่วงของงานที่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ไม่มีรูปแบบตายตัว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ที่ต้องมีประสบการณ์การทำงานหลาย ๆ อย่างในสาขาที่รับผิดชอบ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งานที่ไม่มีรูปแบบตายตัว</a:t>
                      </a: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คืองานที่ดำเนินการโดยใช้การตัดสินและความสามารถในการคิดของตนเอง โดยที่ไม่ได้กำหนดตายตัว จะต้อง</a:t>
                      </a: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    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วางแผน, เจรจากับภายนอกอย่างเป็นรูปธรรม</a:t>
                      </a:r>
                      <a:br>
                        <a:rPr kumimoji="1" lang="ja-JP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Meiryo UI" pitchFamily="50" charset="-128"/>
                          <a:cs typeface="Browallia New" panose="020B0604020202020204" pitchFamily="34" charset="-34"/>
                        </a:rPr>
                      </a:br>
                      <a:br>
                        <a:rPr kumimoji="1" lang="ja-JP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Meiryo UI" pitchFamily="50" charset="-128"/>
                          <a:cs typeface="Browallia New" panose="020B0604020202020204" pitchFamily="34" charset="-34"/>
                        </a:rPr>
                      </a:br>
                      <a:r>
                        <a:rPr kumimoji="1" lang="th-TH" altLang="ja-JP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ขอบเขตความรับผิดชอบ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วางแผนการทำงาน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ที่ดูแลและรับผิดชอบโดยยึดอยู่บนนโยบาย กฎ และแนวทางในการปฏิบัติ (</a:t>
                      </a: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Guideline) 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และปฏิบัติงานโดยได้รับการ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   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อนุมัติจากผู้ที่มีตำแหน่งสูงกว่า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ใช้ความรู้และประสบการณ์ที่สั่งสมมาให้เป็นประโยชน์ในการแก้ไขปัญหา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ในการทำงาน แต่สำหรับสิ่งที่อยู่นอกเนื้อหานั้นจะต้องทำตามคำสั่ง</a:t>
                      </a: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</a:t>
                      </a: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    </a:t>
                      </a:r>
                      <a:r>
                        <a:rPr kumimoji="1" lang="th-TH" altLang="ja-JP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rowallia New" panose="020B0604020202020204" pitchFamily="34" charset="-34"/>
                          <a:ea typeface="Tahoma" pitchFamily="34" charset="0"/>
                          <a:cs typeface="Browallia New" panose="020B0604020202020204" pitchFamily="34" charset="-34"/>
                        </a:rPr>
                        <a:t>ของผู้ที่มีตำแหน่งสูงกว่า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Tahoma" pitchFamily="34" charset="0"/>
                        <a:cs typeface="Browallia New" panose="020B0604020202020204" pitchFamily="34" charset="-34"/>
                      </a:endParaRPr>
                    </a:p>
                    <a:p>
                      <a:pPr marL="173038" marR="0" lvl="0" indent="-17303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rowallia New" panose="020B0604020202020204" pitchFamily="34" charset="-34"/>
                        <a:ea typeface="Meiryo UI" pitchFamily="50" charset="-128"/>
                        <a:cs typeface="Browallia New" panose="020B0604020202020204" pitchFamily="34" charset="-34"/>
                      </a:endParaRPr>
                    </a:p>
                  </a:txBody>
                  <a:tcPr marL="32194" marR="11179" marT="27432" marB="0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077382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2880" y="1038036"/>
            <a:ext cx="3512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Standard of Requirement by Band</a:t>
            </a:r>
          </a:p>
        </p:txBody>
      </p:sp>
    </p:spTree>
    <p:extLst>
      <p:ext uri="{BB962C8B-B14F-4D97-AF65-F5344CB8AC3E}">
        <p14:creationId xmlns:p14="http://schemas.microsoft.com/office/powerpoint/2010/main" val="31189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/>
          <p:cNvSpPr>
            <a:spLocks noChangeArrowheads="1"/>
          </p:cNvSpPr>
          <p:nvPr/>
        </p:nvSpPr>
        <p:spPr bwMode="auto">
          <a:xfrm>
            <a:off x="1483431" y="1915366"/>
            <a:ext cx="1481203" cy="1757213"/>
          </a:xfrm>
          <a:prstGeom prst="rect">
            <a:avLst/>
          </a:prstGeom>
          <a:gradFill rotWithShape="0">
            <a:gsLst>
              <a:gs pos="0">
                <a:srgbClr val="B9B9FF"/>
              </a:gs>
              <a:gs pos="50000">
                <a:srgbClr val="B9B9FF">
                  <a:gamma/>
                  <a:tint val="18039"/>
                  <a:invGamma/>
                </a:srgbClr>
              </a:gs>
              <a:gs pos="100000">
                <a:srgbClr val="B9B9FF"/>
              </a:gs>
            </a:gsLst>
            <a:lin ang="0" scaled="1"/>
          </a:gradFill>
          <a:ln w="3175">
            <a:noFill/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B9B9FF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029"/>
          <p:cNvSpPr>
            <a:spLocks noChangeArrowheads="1"/>
          </p:cNvSpPr>
          <p:nvPr/>
        </p:nvSpPr>
        <p:spPr bwMode="auto">
          <a:xfrm>
            <a:off x="1489688" y="3863064"/>
            <a:ext cx="1504310" cy="1861130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FFFF66">
                  <a:gamma/>
                  <a:tint val="23922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Box 1030"/>
          <p:cNvSpPr txBox="1">
            <a:spLocks noChangeArrowheads="1"/>
          </p:cNvSpPr>
          <p:nvPr/>
        </p:nvSpPr>
        <p:spPr bwMode="auto">
          <a:xfrm>
            <a:off x="1340204" y="1300910"/>
            <a:ext cx="2679080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000" dirty="0">
                <a:solidFill>
                  <a:srgbClr val="3333CC"/>
                </a:solidFill>
                <a:latin typeface="+mn-ea"/>
                <a:cs typeface="Angsana New" panose="02020603050405020304" pitchFamily="18" charset="-34"/>
              </a:rPr>
              <a:t>&lt;</a:t>
            </a:r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ปัจจัยการประเมิน</a:t>
            </a:r>
            <a:r>
              <a:rPr lang="en-US" altLang="ja-JP" sz="2000" dirty="0">
                <a:solidFill>
                  <a:srgbClr val="3333CC"/>
                </a:solidFill>
                <a:latin typeface="+mj-ea"/>
                <a:ea typeface="+mj-ea"/>
                <a:cs typeface="Angsana New" panose="02020603050405020304" pitchFamily="18" charset="-34"/>
              </a:rPr>
              <a:t>&gt;</a:t>
            </a:r>
          </a:p>
        </p:txBody>
      </p:sp>
      <p:sp>
        <p:nvSpPr>
          <p:cNvPr id="7" name="Text Box 1031"/>
          <p:cNvSpPr txBox="1">
            <a:spLocks noChangeArrowheads="1"/>
          </p:cNvSpPr>
          <p:nvPr/>
        </p:nvSpPr>
        <p:spPr bwMode="auto">
          <a:xfrm>
            <a:off x="4463641" y="1300910"/>
            <a:ext cx="2679080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000" dirty="0">
                <a:solidFill>
                  <a:srgbClr val="3333CC"/>
                </a:solidFill>
                <a:latin typeface="+mn-ea"/>
                <a:cs typeface="Angsana New" panose="02020603050405020304" pitchFamily="18" charset="-34"/>
              </a:rPr>
              <a:t>&lt;</a:t>
            </a:r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หัวข้อการประเมิน</a:t>
            </a:r>
            <a:r>
              <a:rPr lang="en-US" altLang="ja-JP" sz="2000" dirty="0">
                <a:solidFill>
                  <a:srgbClr val="3333CC"/>
                </a:solidFill>
                <a:latin typeface="+mn-ea"/>
                <a:cs typeface="Angsana New" panose="02020603050405020304" pitchFamily="18" charset="-34"/>
              </a:rPr>
              <a:t>&gt;</a:t>
            </a:r>
            <a:endParaRPr lang="en-US" altLang="ja-JP" sz="2000" dirty="0">
              <a:solidFill>
                <a:srgbClr val="3333CC"/>
              </a:solidFill>
              <a:latin typeface="Angsana New" panose="02020603050405020304" pitchFamily="18" charset="-34"/>
              <a:ea typeface="Tahoma" panose="020B0604030504040204" pitchFamily="34" charset="0"/>
              <a:cs typeface="Angsana New" panose="02020603050405020304" pitchFamily="18" charset="-34"/>
            </a:endParaRPr>
          </a:p>
        </p:txBody>
      </p:sp>
      <p:sp>
        <p:nvSpPr>
          <p:cNvPr id="8" name="Text Box 1032"/>
          <p:cNvSpPr txBox="1">
            <a:spLocks noChangeArrowheads="1"/>
          </p:cNvSpPr>
          <p:nvPr/>
        </p:nvSpPr>
        <p:spPr bwMode="auto">
          <a:xfrm>
            <a:off x="1509069" y="2046552"/>
            <a:ext cx="1534147" cy="1365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ระดับความสำเร็จ</a:t>
            </a:r>
            <a:endParaRPr lang="en-US" altLang="ja-JP" sz="2585" dirty="0">
              <a:solidFill>
                <a:srgbClr val="3333CC"/>
              </a:solidFill>
              <a:latin typeface="Angsana New" panose="02020603050405020304" pitchFamily="18" charset="-34"/>
              <a:ea typeface="Tahoma" panose="020B0604030504040204" pitchFamily="34" charset="0"/>
              <a:cs typeface="Angsana New" panose="02020603050405020304" pitchFamily="18" charset="-34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ในหน้าที่</a:t>
            </a:r>
            <a:endParaRPr lang="ja-JP" altLang="en-US" sz="2585" dirty="0">
              <a:solidFill>
                <a:srgbClr val="3333CC"/>
              </a:solidFill>
              <a:latin typeface="Angsana New" panose="02020603050405020304" pitchFamily="18" charset="-34"/>
              <a:ea typeface="HGP創英角ｺﾞｼｯｸUB" pitchFamily="50" charset="-128"/>
              <a:cs typeface="Angsana New" panose="02020603050405020304" pitchFamily="18" charset="-34"/>
            </a:endParaRPr>
          </a:p>
        </p:txBody>
      </p:sp>
      <p:sp>
        <p:nvSpPr>
          <p:cNvPr id="9" name="Text Box 1033"/>
          <p:cNvSpPr txBox="1">
            <a:spLocks noChangeArrowheads="1"/>
          </p:cNvSpPr>
          <p:nvPr/>
        </p:nvSpPr>
        <p:spPr bwMode="auto">
          <a:xfrm>
            <a:off x="1425477" y="3974255"/>
            <a:ext cx="15341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>
            <a:spAutoFit/>
          </a:bodyPr>
          <a:lstStyle/>
          <a:p>
            <a:pPr algn="dist"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ja-JP" sz="2400" b="1" dirty="0">
                <a:solidFill>
                  <a:srgbClr val="3333CC"/>
                </a:solidFill>
                <a:latin typeface="+mn-ea"/>
              </a:rPr>
              <a:t>Behavior</a:t>
            </a:r>
            <a:endParaRPr lang="ja-JP" altLang="en-US" sz="2400" b="1" dirty="0">
              <a:solidFill>
                <a:srgbClr val="3333CC"/>
              </a:solidFill>
              <a:latin typeface="+mn-ea"/>
            </a:endParaRPr>
          </a:p>
        </p:txBody>
      </p:sp>
      <p:sp>
        <p:nvSpPr>
          <p:cNvPr id="11" name="Rectangle 1035"/>
          <p:cNvSpPr>
            <a:spLocks noChangeArrowheads="1"/>
          </p:cNvSpPr>
          <p:nvPr/>
        </p:nvSpPr>
        <p:spPr bwMode="auto">
          <a:xfrm>
            <a:off x="1469930" y="1915366"/>
            <a:ext cx="1489694" cy="1757213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037"/>
          <p:cNvSpPr>
            <a:spLocks noChangeArrowheads="1"/>
          </p:cNvSpPr>
          <p:nvPr/>
        </p:nvSpPr>
        <p:spPr bwMode="auto">
          <a:xfrm>
            <a:off x="3140480" y="2822052"/>
            <a:ext cx="5317792" cy="832649"/>
          </a:xfrm>
          <a:prstGeom prst="rect">
            <a:avLst/>
          </a:prstGeom>
          <a:gradFill rotWithShape="0">
            <a:gsLst>
              <a:gs pos="0">
                <a:srgbClr val="B9B9FF"/>
              </a:gs>
              <a:gs pos="50000">
                <a:srgbClr val="B9B9FF">
                  <a:gamma/>
                  <a:tint val="18039"/>
                  <a:invGamma/>
                </a:srgbClr>
              </a:gs>
              <a:gs pos="100000">
                <a:srgbClr val="B9B9FF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B9B9FF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038"/>
          <p:cNvSpPr>
            <a:spLocks noChangeArrowheads="1"/>
          </p:cNvSpPr>
          <p:nvPr/>
        </p:nvSpPr>
        <p:spPr bwMode="auto">
          <a:xfrm>
            <a:off x="3140480" y="5125974"/>
            <a:ext cx="5317792" cy="598220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FFFF66">
                  <a:gamma/>
                  <a:tint val="23922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039"/>
          <p:cNvSpPr>
            <a:spLocks noChangeArrowheads="1"/>
          </p:cNvSpPr>
          <p:nvPr/>
        </p:nvSpPr>
        <p:spPr bwMode="auto">
          <a:xfrm>
            <a:off x="3140480" y="4527753"/>
            <a:ext cx="5317792" cy="531751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FFFF66">
                  <a:gamma/>
                  <a:tint val="23922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040"/>
          <p:cNvSpPr>
            <a:spLocks noChangeArrowheads="1"/>
          </p:cNvSpPr>
          <p:nvPr/>
        </p:nvSpPr>
        <p:spPr bwMode="auto">
          <a:xfrm>
            <a:off x="3140480" y="1925710"/>
            <a:ext cx="5317792" cy="832649"/>
          </a:xfrm>
          <a:prstGeom prst="rect">
            <a:avLst/>
          </a:prstGeom>
          <a:gradFill rotWithShape="0">
            <a:gsLst>
              <a:gs pos="0">
                <a:srgbClr val="B9B9FF"/>
              </a:gs>
              <a:gs pos="50000">
                <a:srgbClr val="B9B9FF">
                  <a:gamma/>
                  <a:tint val="18039"/>
                  <a:invGamma/>
                </a:srgbClr>
              </a:gs>
              <a:gs pos="100000">
                <a:srgbClr val="B9B9FF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B9B9FF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041"/>
          <p:cNvSpPr>
            <a:spLocks noChangeArrowheads="1"/>
          </p:cNvSpPr>
          <p:nvPr/>
        </p:nvSpPr>
        <p:spPr bwMode="auto">
          <a:xfrm>
            <a:off x="3140480" y="3779585"/>
            <a:ext cx="5317792" cy="681701"/>
          </a:xfrm>
          <a:prstGeom prst="rect">
            <a:avLst/>
          </a:prstGeom>
          <a:gradFill rotWithShape="0">
            <a:gsLst>
              <a:gs pos="0">
                <a:srgbClr val="FFFF66"/>
              </a:gs>
              <a:gs pos="50000">
                <a:srgbClr val="FFFF66">
                  <a:gamma/>
                  <a:tint val="23922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 w="3175">
            <a:miter lim="800000"/>
            <a:headEnd/>
            <a:tailEnd/>
          </a:ln>
          <a:effectLst/>
          <a:scene3d>
            <a:camera prst="legacyObliqueTopRight"/>
            <a:lightRig rig="legacyFlat1" dir="t"/>
          </a:scene3d>
          <a:sp3d extrusionH="430200" prstMaterial="legacyMatte">
            <a:bevelT w="13500" h="13500" prst="angle"/>
            <a:bevelB w="13500" h="13500" prst="angle"/>
            <a:extrusionClr>
              <a:srgbClr val="FFFF66"/>
            </a:extrusionClr>
          </a:sp3d>
        </p:spPr>
        <p:txBody>
          <a:bodyPr wrap="none" anchor="ctr">
            <a:flatTx/>
          </a:bodyPr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Box 1042"/>
          <p:cNvSpPr txBox="1">
            <a:spLocks noChangeArrowheads="1"/>
          </p:cNvSpPr>
          <p:nvPr/>
        </p:nvSpPr>
        <p:spPr bwMode="auto">
          <a:xfrm>
            <a:off x="4339593" y="2826561"/>
            <a:ext cx="27194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en-US" altLang="ja-JP" sz="2800" b="1" kern="1600" dirty="0">
                <a:solidFill>
                  <a:srgbClr val="3333CC"/>
                </a:solidFill>
                <a:latin typeface="+mn-ea"/>
                <a:cs typeface="Angsana New" panose="02020603050405020304" pitchFamily="18" charset="-34"/>
              </a:rPr>
              <a:t>PROCESS</a:t>
            </a:r>
            <a:endParaRPr lang="ja-JP" altLang="en-US" sz="2800" b="1" kern="1600" dirty="0">
              <a:solidFill>
                <a:srgbClr val="3333CC"/>
              </a:solidFill>
              <a:latin typeface="+mn-ea"/>
              <a:cs typeface="Angsana New" panose="02020603050405020304" pitchFamily="18" charset="-34"/>
            </a:endParaRPr>
          </a:p>
        </p:txBody>
      </p:sp>
      <p:sp>
        <p:nvSpPr>
          <p:cNvPr id="19" name="Text Box 1043"/>
          <p:cNvSpPr txBox="1">
            <a:spLocks noChangeArrowheads="1"/>
          </p:cNvSpPr>
          <p:nvPr/>
        </p:nvSpPr>
        <p:spPr bwMode="auto">
          <a:xfrm>
            <a:off x="4156730" y="1900215"/>
            <a:ext cx="29406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en-US" altLang="ja-JP" sz="2800" b="1" kern="1600" dirty="0">
                <a:solidFill>
                  <a:srgbClr val="3333CC"/>
                </a:solidFill>
                <a:latin typeface="+mn-ea"/>
                <a:cs typeface="Angsana New" panose="02020603050405020304" pitchFamily="18" charset="-34"/>
              </a:rPr>
              <a:t>OUTPUT</a:t>
            </a:r>
            <a:endParaRPr lang="ja-JP" altLang="en-US" sz="2800" b="1" kern="1600" dirty="0">
              <a:solidFill>
                <a:srgbClr val="3333CC"/>
              </a:solidFill>
              <a:latin typeface="+mn-ea"/>
              <a:cs typeface="Angsana New" panose="02020603050405020304" pitchFamily="18" charset="-34"/>
            </a:endParaRPr>
          </a:p>
        </p:txBody>
      </p:sp>
      <p:sp>
        <p:nvSpPr>
          <p:cNvPr id="20" name="Text Box 1044"/>
          <p:cNvSpPr txBox="1">
            <a:spLocks noChangeArrowheads="1"/>
          </p:cNvSpPr>
          <p:nvPr/>
        </p:nvSpPr>
        <p:spPr bwMode="auto">
          <a:xfrm>
            <a:off x="3284347" y="3902194"/>
            <a:ext cx="5013323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th-TH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พฤติกรรมแต่ละคนในฐานะที่เป็น</a:t>
            </a:r>
            <a:r>
              <a:rPr lang="th-TH" sz="2585" dirty="0">
                <a:solidFill>
                  <a:srgbClr val="FF0000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คนทำงาน</a:t>
            </a:r>
            <a:endParaRPr lang="ja-JP" altLang="en-US" sz="2585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" name="Text Box 1045"/>
          <p:cNvSpPr txBox="1">
            <a:spLocks noChangeArrowheads="1"/>
          </p:cNvSpPr>
          <p:nvPr/>
        </p:nvSpPr>
        <p:spPr bwMode="auto">
          <a:xfrm>
            <a:off x="3519354" y="4527753"/>
            <a:ext cx="464455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พฤติกรรมในฐานะที่เป็น</a:t>
            </a:r>
            <a:r>
              <a:rPr lang="th-TH" altLang="ja-JP" sz="2585" dirty="0">
                <a:solidFill>
                  <a:srgbClr val="FF0000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คนในองค์กร</a:t>
            </a:r>
            <a:endParaRPr lang="ja-JP" altLang="en-US" sz="2585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2" name="Text Box 1046"/>
          <p:cNvSpPr txBox="1">
            <a:spLocks noChangeArrowheads="1"/>
          </p:cNvSpPr>
          <p:nvPr/>
        </p:nvSpPr>
        <p:spPr bwMode="auto">
          <a:xfrm>
            <a:off x="3483754" y="5125974"/>
            <a:ext cx="464455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dist"/>
            <a:r>
              <a:rPr lang="th-TH" altLang="ja-JP" sz="2585" dirty="0">
                <a:solidFill>
                  <a:srgbClr val="3333CC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พฤติกรรมในฐานะที่เป็น</a:t>
            </a:r>
            <a:r>
              <a:rPr lang="th-TH" altLang="ja-JP" sz="2585" dirty="0">
                <a:solidFill>
                  <a:srgbClr val="FF0000"/>
                </a:solidFill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คนของสังคม</a:t>
            </a:r>
            <a:endParaRPr lang="ja-JP" altLang="en-US" sz="2585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3" name="Text Box 1047"/>
          <p:cNvSpPr txBox="1">
            <a:spLocks noChangeArrowheads="1"/>
          </p:cNvSpPr>
          <p:nvPr/>
        </p:nvSpPr>
        <p:spPr bwMode="auto">
          <a:xfrm>
            <a:off x="4335127" y="2282376"/>
            <a:ext cx="2551103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h-TH" altLang="ja-JP" sz="2585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</a:rPr>
              <a:t>ปริมาณงานและคุณภาพ</a:t>
            </a:r>
            <a:endParaRPr lang="ja-JP" altLang="en-US" sz="2585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4" name="Text Box 1048"/>
          <p:cNvSpPr txBox="1">
            <a:spLocks noChangeArrowheads="1"/>
          </p:cNvSpPr>
          <p:nvPr/>
        </p:nvSpPr>
        <p:spPr bwMode="auto">
          <a:xfrm>
            <a:off x="4278442" y="3183244"/>
            <a:ext cx="2808293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th-TH" altLang="ja-JP" sz="2585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</a:rPr>
              <a:t>วิธีการดำเนินงาน</a:t>
            </a:r>
            <a:endParaRPr lang="ja-JP" altLang="en-US" sz="2585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5" name="Rectangle 1049"/>
          <p:cNvSpPr>
            <a:spLocks noChangeArrowheads="1"/>
          </p:cNvSpPr>
          <p:nvPr/>
        </p:nvSpPr>
        <p:spPr bwMode="auto">
          <a:xfrm>
            <a:off x="3140480" y="2822052"/>
            <a:ext cx="5317792" cy="83264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1050"/>
          <p:cNvSpPr>
            <a:spLocks noChangeArrowheads="1"/>
          </p:cNvSpPr>
          <p:nvPr/>
        </p:nvSpPr>
        <p:spPr bwMode="auto">
          <a:xfrm>
            <a:off x="3140480" y="5059505"/>
            <a:ext cx="5317792" cy="66468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ectangle 1052"/>
          <p:cNvSpPr>
            <a:spLocks noChangeArrowheads="1"/>
          </p:cNvSpPr>
          <p:nvPr/>
        </p:nvSpPr>
        <p:spPr bwMode="auto">
          <a:xfrm>
            <a:off x="3140480" y="1925710"/>
            <a:ext cx="5317792" cy="832649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2585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" name="Text Box 1034"/>
          <p:cNvSpPr txBox="1">
            <a:spLocks noChangeArrowheads="1"/>
          </p:cNvSpPr>
          <p:nvPr/>
        </p:nvSpPr>
        <p:spPr bwMode="auto">
          <a:xfrm>
            <a:off x="1369641" y="4469729"/>
            <a:ext cx="2235200" cy="122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h-TH" altLang="ja-JP" sz="1846" b="1" dirty="0"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มาตรฐานที่ถูกคาดหวัง</a:t>
            </a:r>
            <a:endParaRPr lang="en-US" altLang="ja-JP" sz="1846" b="1" dirty="0">
              <a:latin typeface="Angsana New" panose="02020603050405020304" pitchFamily="18" charset="-34"/>
              <a:ea typeface="Tahoma" panose="020B0604030504040204" pitchFamily="34" charset="0"/>
              <a:cs typeface="Angsana New" panose="02020603050405020304" pitchFamily="18" charset="-34"/>
            </a:endParaRPr>
          </a:p>
          <a:p>
            <a:r>
              <a:rPr lang="th-TH" altLang="ja-JP" sz="1846" b="1" dirty="0"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ในฐานะที่เป็นพนักงาน</a:t>
            </a:r>
            <a:endParaRPr lang="en-US" altLang="ja-JP" sz="1846" b="1" dirty="0">
              <a:latin typeface="Angsana New" panose="02020603050405020304" pitchFamily="18" charset="-34"/>
              <a:ea typeface="Tahoma" panose="020B0604030504040204" pitchFamily="34" charset="0"/>
              <a:cs typeface="Angsana New" panose="02020603050405020304" pitchFamily="18" charset="-34"/>
            </a:endParaRPr>
          </a:p>
          <a:p>
            <a:r>
              <a:rPr lang="th-TH" altLang="ja-JP" sz="1846" b="1" dirty="0"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ของบริษัทชั้นนำ</a:t>
            </a:r>
            <a:endParaRPr lang="en-US" altLang="ja-JP" sz="1846" b="1" dirty="0">
              <a:latin typeface="Angsana New" panose="02020603050405020304" pitchFamily="18" charset="-34"/>
              <a:ea typeface="Tahoma" panose="020B0604030504040204" pitchFamily="34" charset="0"/>
              <a:cs typeface="Angsana New" panose="02020603050405020304" pitchFamily="18" charset="-34"/>
            </a:endParaRPr>
          </a:p>
          <a:p>
            <a:r>
              <a:rPr lang="th-TH" altLang="ja-JP" sz="1846" b="1" dirty="0">
                <a:latin typeface="Angsana New" panose="02020603050405020304" pitchFamily="18" charset="-34"/>
                <a:ea typeface="Tahoma" panose="020B0604030504040204" pitchFamily="34" charset="0"/>
                <a:cs typeface="Angsana New" panose="02020603050405020304" pitchFamily="18" charset="-34"/>
              </a:rPr>
              <a:t>ระดับโลก</a:t>
            </a:r>
            <a:endParaRPr lang="th-TH" altLang="ja-JP" sz="1292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03288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หัวข้อการประเมินผลงานของแคนนอน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10" name="6-Point Star 9"/>
          <p:cNvSpPr/>
          <p:nvPr/>
        </p:nvSpPr>
        <p:spPr>
          <a:xfrm>
            <a:off x="3639367" y="2074362"/>
            <a:ext cx="549430" cy="535343"/>
          </a:xfrm>
          <a:prstGeom prst="star6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1</a:t>
            </a:r>
          </a:p>
        </p:txBody>
      </p:sp>
      <p:sp>
        <p:nvSpPr>
          <p:cNvPr id="31" name="6-Point Star 30"/>
          <p:cNvSpPr/>
          <p:nvPr/>
        </p:nvSpPr>
        <p:spPr>
          <a:xfrm>
            <a:off x="3680380" y="2930122"/>
            <a:ext cx="549430" cy="535343"/>
          </a:xfrm>
          <a:prstGeom prst="star6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</a:p>
        </p:txBody>
      </p:sp>
      <p:sp>
        <p:nvSpPr>
          <p:cNvPr id="32" name="6-Point Star 31"/>
          <p:cNvSpPr/>
          <p:nvPr/>
        </p:nvSpPr>
        <p:spPr>
          <a:xfrm>
            <a:off x="2863150" y="3909228"/>
            <a:ext cx="549430" cy="535343"/>
          </a:xfrm>
          <a:prstGeom prst="star6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3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1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7886700" cy="1325563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หัวข้อในการประเมินผลงาน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“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Output”</a:t>
            </a: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79512" y="1025409"/>
            <a:ext cx="5314275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ผลที่ได้รับ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 (Output) </a:t>
            </a:r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จากระดับการบรรลุบทบาทและหน้าที่</a:t>
            </a:r>
            <a:endParaRPr lang="en-US" altLang="ja-JP" sz="2585" b="1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cxnSp>
        <p:nvCxnSpPr>
          <p:cNvPr id="12" name="直線コネクタ 12"/>
          <p:cNvCxnSpPr/>
          <p:nvPr/>
        </p:nvCxnSpPr>
        <p:spPr>
          <a:xfrm>
            <a:off x="251520" y="969650"/>
            <a:ext cx="8424936" cy="0"/>
          </a:xfrm>
          <a:prstGeom prst="line">
            <a:avLst/>
          </a:prstGeom>
          <a:ln w="508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93211"/>
              </p:ext>
            </p:extLst>
          </p:nvPr>
        </p:nvGraphicFramePr>
        <p:xfrm>
          <a:off x="61642" y="1482554"/>
          <a:ext cx="9014713" cy="5247249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124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5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4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5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031"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ประเภท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ข้อประเมิน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E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J1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J2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J3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2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J4</a:t>
                      </a:r>
                      <a:endParaRPr kumimoji="1" lang="ja-JP" altLang="en-US" sz="22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 rowSpan="2">
                  <a:txBody>
                    <a:bodyPr/>
                    <a:lstStyle/>
                    <a:p>
                      <a:pPr algn="ctr"/>
                      <a:r>
                        <a:rPr kumimoji="1" lang="th-TH" altLang="ja-JP" sz="20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ผลที่ได้รับเชิง</a:t>
                      </a:r>
                      <a:r>
                        <a:rPr kumimoji="1" lang="th-TH" altLang="ja-JP" sz="2000" b="1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ปริมาณ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กำหนดส่ง</a:t>
                      </a: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ปฏิบัติงานจนสำเร็จลุล่วงภายใน</a:t>
                      </a:r>
                      <a:r>
                        <a:rPr kumimoji="1" lang="th-TH" altLang="ja-JP" sz="1800" b="1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ระยะเวลาที่กำหนด</a:t>
                      </a:r>
                      <a:endParaRPr kumimoji="1" lang="ja-JP" altLang="en-US" sz="1800" b="1" dirty="0">
                        <a:solidFill>
                          <a:srgbClr val="D131FD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655">
                <a:tc v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ประสิทธิภาพ</a:t>
                      </a:r>
                      <a:endParaRPr kumimoji="1" lang="ja-JP" altLang="en-US" sz="2000" b="1" dirty="0">
                        <a:solidFill>
                          <a:srgbClr val="0000FF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ปฏิบัติงานได้อย่าง</a:t>
                      </a:r>
                      <a:r>
                        <a:rPr kumimoji="1" lang="th-TH" altLang="ja-JP" sz="1800" b="1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รวดเร็ว</a:t>
                      </a:r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ปฏิบัติงานได้สำเร็จตาม</a:t>
                      </a:r>
                      <a:r>
                        <a:rPr kumimoji="1" lang="th-TH" altLang="ja-JP" sz="1800" b="1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ปริมาณที่คาดหวัง</a:t>
                      </a:r>
                    </a:p>
                    <a:p>
                      <a:pPr algn="ctr"/>
                      <a:r>
                        <a:rPr kumimoji="1" lang="th-TH" altLang="ja-JP" sz="1800" b="1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โดยใช้</a:t>
                      </a:r>
                      <a:r>
                        <a:rPr kumimoji="1" lang="th-TH" altLang="ja-JP" sz="1800" b="1" baseline="0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เวลาน้อยที่สุด</a:t>
                      </a:r>
                      <a:endParaRPr kumimoji="1" lang="ja-JP" altLang="en-US" sz="1800" b="1" dirty="0">
                        <a:solidFill>
                          <a:srgbClr val="D131FD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1">
                <a:tc rowSpan="3">
                  <a:txBody>
                    <a:bodyPr/>
                    <a:lstStyle/>
                    <a:p>
                      <a:pPr algn="ctr"/>
                      <a:r>
                        <a:rPr kumimoji="1" lang="th-TH" altLang="ja-JP" sz="20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ผลที่ได้รับเชิง</a:t>
                      </a:r>
                      <a:r>
                        <a:rPr kumimoji="1" lang="th-TH" altLang="ja-JP" sz="2000" b="1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คุณภาพ</a:t>
                      </a:r>
                      <a:endParaRPr kumimoji="1" lang="ja-JP" altLang="en-US" sz="2000" b="1" dirty="0">
                        <a:solidFill>
                          <a:srgbClr val="FF000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ความถูกต้อง</a:t>
                      </a:r>
                      <a:endParaRPr kumimoji="1" lang="ja-JP" altLang="en-US" sz="2000" b="1" dirty="0">
                        <a:solidFill>
                          <a:srgbClr val="0000FF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ผลการปฏิบัติงาน</a:t>
                      </a:r>
                      <a:r>
                        <a:rPr kumimoji="1" lang="th-TH" altLang="ja-JP" sz="1800" b="1" baseline="0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ถูกต้องแม่นยำ</a:t>
                      </a:r>
                      <a:r>
                        <a:rPr kumimoji="1" lang="th-TH" altLang="ja-JP" sz="1800" b="1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และน่าเชื่อถืออย่างยิ่ง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1175">
                <a:tc v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การปรับปรุง</a:t>
                      </a:r>
                    </a:p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การปรับเปลี่ยนเชิงนวัตกรรม</a:t>
                      </a:r>
                      <a:endParaRPr kumimoji="1" lang="ja-JP" altLang="en-US" sz="2000" b="1" dirty="0">
                        <a:solidFill>
                          <a:srgbClr val="0000FF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เห็นการเปลี่ยนแปลงและการปรับปรุงในผลลัพธ์จากการปฏิบัติงาน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เห็นการเปลี่ยนแปลงและการปรับปรุงระดับสูงในผลลัพธ์จากการปฏิบัติงาน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เห็นความคิดเชิง</a:t>
                      </a:r>
                      <a:r>
                        <a:rPr kumimoji="1" lang="th-TH" altLang="ja-JP" sz="1800" b="1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นวัตกรรม</a:t>
                      </a:r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ในผลลัพธ์ของการปฏิบัติงาน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1411">
                <a:tc v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การตัดสินใจ</a:t>
                      </a:r>
                    </a:p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(เฉพาะ </a:t>
                      </a:r>
                      <a:r>
                        <a:rPr kumimoji="1" lang="en-US" altLang="ja-JP" sz="2000" b="1" dirty="0">
                          <a:solidFill>
                            <a:srgbClr val="0000FF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J4, J3)</a:t>
                      </a:r>
                      <a:endParaRPr kumimoji="1" lang="ja-JP" altLang="en-US" sz="2000" b="1" dirty="0">
                        <a:solidFill>
                          <a:srgbClr val="0000FF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-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1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พฤติกรรมหรือผลลัพธ์ในการปฏิบัติโดยใช้</a:t>
                      </a:r>
                      <a:r>
                        <a:rPr kumimoji="1" lang="th-TH" altLang="ja-JP" sz="1800" b="1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วิจารณญาณของตัวเอง</a:t>
                      </a:r>
                      <a:r>
                        <a:rPr kumimoji="1" lang="th-TH" altLang="ja-JP" sz="1800" b="1" baseline="0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</a:t>
                      </a:r>
                      <a:r>
                        <a:rPr kumimoji="1" lang="th-TH" altLang="ja-JP" sz="1800" b="1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เมื่อเปรียบเทียบกับค่าใช้จ่ายแล้ว มีความ</a:t>
                      </a:r>
                      <a:r>
                        <a:rPr kumimoji="1" lang="th-TH" altLang="ja-JP" sz="1800" b="1" baseline="0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คุ้มค่าอย่างสูงสุด </a:t>
                      </a:r>
                      <a:r>
                        <a:rPr kumimoji="1" lang="th-TH" altLang="ja-JP" sz="1800" b="1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รวมถึงเมื่อมองใน</a:t>
                      </a:r>
                      <a:r>
                        <a:rPr kumimoji="1" lang="th-TH" altLang="ja-JP" sz="1800" b="1" baseline="0" dirty="0">
                          <a:solidFill>
                            <a:srgbClr val="D131FD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ระยะยาว</a:t>
                      </a:r>
                      <a:r>
                        <a:rPr kumimoji="1" lang="th-TH" altLang="ja-JP" sz="1800" b="1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แล้วมีความถูกต้องเหมาะสม</a:t>
                      </a:r>
                      <a:endParaRPr kumimoji="1" lang="ja-JP" altLang="en-US" sz="1800" b="1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78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48" y="0"/>
            <a:ext cx="7886700" cy="1325563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หัวข้อในการประเมินผลงาน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“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Process”</a:t>
            </a:r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242748" y="969650"/>
            <a:ext cx="5270995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กระบวนการ (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Process) </a:t>
            </a:r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ที่ใช้ในการบรรลุบทบาทและหน้าที่</a:t>
            </a:r>
            <a:endParaRPr lang="en-US" altLang="ja-JP" sz="2585" b="1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28560"/>
              </p:ext>
            </p:extLst>
          </p:nvPr>
        </p:nvGraphicFramePr>
        <p:xfrm>
          <a:off x="242748" y="1447625"/>
          <a:ext cx="8686800" cy="4995270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674"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ข้อประเมิน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E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J1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J2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J3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1" dirty="0"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J4</a:t>
                      </a:r>
                      <a:endParaRPr kumimoji="1" lang="ja-JP" altLang="en-US" sz="2600" b="1" dirty="0"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470"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วงจร</a:t>
                      </a:r>
                      <a:r>
                        <a:rPr kumimoji="1" lang="th-TH" altLang="ja-JP" sz="2000" b="1" baseline="0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</a:t>
                      </a:r>
                      <a:r>
                        <a:rPr kumimoji="1" lang="en-US" altLang="ja-JP" sz="2000" b="1" baseline="0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PDCA</a:t>
                      </a:r>
                      <a:endParaRPr kumimoji="1" lang="th-TH" altLang="ja-JP" sz="2000" b="1" dirty="0">
                        <a:solidFill>
                          <a:srgbClr val="0000CC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ปฏิบัติงานโดยใช้วงจร </a:t>
                      </a:r>
                      <a:r>
                        <a:rPr kumimoji="1" lang="en-US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PDCA</a:t>
                      </a:r>
                      <a:endParaRPr kumimoji="1" lang="th-TH" altLang="ja-JP" sz="1800" b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ตั้ง</a:t>
                      </a:r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ข้อสมมติฐาน</a:t>
                      </a:r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ขึ้นมาอย่างละเอียด</a:t>
                      </a:r>
                      <a:r>
                        <a:rPr kumimoji="1" lang="th-TH" altLang="ja-JP" sz="1800" b="0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</a:t>
                      </a:r>
                      <a:endParaRPr kumimoji="1" lang="en-US" altLang="ja-JP" sz="1800" b="0" baseline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  <a:p>
                      <a:pPr algn="ctr"/>
                      <a:r>
                        <a:rPr kumimoji="1" lang="th-TH" altLang="ja-JP" sz="1800" b="0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แล้วจึงปฏิบัติงานตามวงจร </a:t>
                      </a:r>
                      <a:r>
                        <a:rPr kumimoji="1" lang="en-US" altLang="ja-JP" sz="1800" b="0" baseline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PDCA</a:t>
                      </a:r>
                      <a:endParaRPr kumimoji="1" lang="th-TH" altLang="ja-JP" sz="1800" b="0" dirty="0">
                        <a:solidFill>
                          <a:srgbClr val="FF0000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38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HORENSO</a:t>
                      </a:r>
                      <a:endParaRPr kumimoji="1" lang="th-TH" altLang="ja-JP" sz="2000" b="1" dirty="0">
                        <a:solidFill>
                          <a:srgbClr val="0000CC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มีการ</a:t>
                      </a:r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รายงาน</a:t>
                      </a:r>
                      <a:r>
                        <a:rPr kumimoji="1" lang="th-TH" altLang="ja-JP" sz="1800" b="0" baseline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 แจ้งข้อมูลข่าวสาร และปรึกษา </a:t>
                      </a:r>
                      <a:r>
                        <a:rPr kumimoji="1" lang="th-TH" altLang="ja-JP" sz="1800" b="0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โดยรู้จักเลือกใช้สาระสำคัญได้อย่างถูกกาลเทศะ</a:t>
                      </a:r>
                      <a:endParaRPr kumimoji="1" lang="th-TH" altLang="ja-JP" sz="1800" b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344"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การใช้ทรัพยากร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ใช้เวลาที่มีอยู่อย่างจำกัดได้อย่างมีประสิทธิภาพ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ใช้ทรัพยากร</a:t>
                      </a:r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ที่ได้รับได้อย่างมีประสิทธิภาพ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4206"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การมีปฏิสัมพันธ์กับหน่วยงานที่เกี่ยวข้อง</a:t>
                      </a:r>
                    </a:p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(การเจรจาต่อรอง)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แลกเปลี่ยนข้อมูลข่าวสารและประสาน</a:t>
                      </a:r>
                      <a:r>
                        <a:rPr kumimoji="1" lang="th-TH" altLang="ja-JP" sz="1800" b="0" baseline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งานร่วมกับหน่วยงานที่เกี่ยวข้องได้อย่างราบรื่น</a:t>
                      </a:r>
                      <a:endParaRPr kumimoji="1" lang="th-TH" altLang="ja-JP" sz="1800" b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เจรจากับหน่วยงานที่เกี่ยวข้องได้อย่างมีประสิทธิภาพ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เจรจาและต่อรอง</a:t>
                      </a:r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กับหน่วยงานที่เกี่ยวข้องได้อย่างมีประสิทธิภาพ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สามารถโน้มน้าวคู่เจรจาในการเจรจาต่อรองกับหน่วยงานที่เกี่ยวข้องและสานสัมพันธ์ให้ได้รับความร่วมมือที่ดีได้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710">
                <a:tc>
                  <a:txBody>
                    <a:bodyPr/>
                    <a:lstStyle/>
                    <a:p>
                      <a:pPr algn="l"/>
                      <a:r>
                        <a:rPr kumimoji="1" lang="th-TH" altLang="ja-JP" sz="2000" b="1" dirty="0">
                          <a:solidFill>
                            <a:srgbClr val="0000CC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การส่งเสริมพัฒนาผู้ใต้บังคับบัญชาหรือลูกน้อง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สามารถให้คำแนะนำการปฏิบัติงาน</a:t>
                      </a:r>
                      <a:endParaRPr kumimoji="1" lang="en-US" altLang="ja-JP" sz="1800" b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หรือหน้าที่ของพนักงานรุ่นน้องได้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th-TH" altLang="ja-JP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ให้คำ</a:t>
                      </a:r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ชี้แนะ</a:t>
                      </a:r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แก่พนักงาน</a:t>
                      </a:r>
                      <a:endParaRPr kumimoji="1" lang="en-US" altLang="ja-JP" sz="1800" b="0" dirty="0">
                        <a:solidFill>
                          <a:schemeClr val="tx1"/>
                        </a:solidFill>
                        <a:latin typeface="PSL Methinee" panose="02020603050405020304" pitchFamily="18" charset="-34"/>
                        <a:cs typeface="PSL Methinee" panose="02020603050405020304" pitchFamily="18" charset="-34"/>
                      </a:endParaRPr>
                    </a:p>
                    <a:p>
                      <a:pPr algn="ctr"/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รุ่นน้องเป็นประจำโดยตระหนักถึงการ</a:t>
                      </a:r>
                      <a:r>
                        <a:rPr kumimoji="1" lang="th-TH" altLang="ja-JP" sz="1800" b="0" dirty="0">
                          <a:solidFill>
                            <a:srgbClr val="FF0000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ส่งเสริมพัฒนาอยู่เสมอ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th-TH" altLang="ja-JP" sz="1800" b="0" dirty="0">
                          <a:solidFill>
                            <a:schemeClr val="tx1"/>
                          </a:solidFill>
                          <a:latin typeface="PSL Methinee" panose="02020603050405020304" pitchFamily="18" charset="-34"/>
                          <a:cs typeface="PSL Methinee" panose="02020603050405020304" pitchFamily="18" charset="-34"/>
                        </a:rPr>
                        <a:t>ให้คำชี้แนะแก่ลูกน้องหรือพนักงานรุ่นน้องเป็นประจำโดยตระหนักถึงการส่งเสริมพัฒนาอยู่เสมอ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0" name="直線コネクタ 13"/>
          <p:cNvCxnSpPr/>
          <p:nvPr/>
        </p:nvCxnSpPr>
        <p:spPr>
          <a:xfrm>
            <a:off x="251520" y="969650"/>
            <a:ext cx="8424936" cy="0"/>
          </a:xfrm>
          <a:prstGeom prst="line">
            <a:avLst/>
          </a:prstGeom>
          <a:ln w="508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3058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54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บทบาทหน้าที่ของหัวหน้างาน</a:t>
            </a:r>
            <a:endParaRPr lang="en-US" sz="54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911077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th-TH" dirty="0"/>
              <a:t>กระจายงาน</a:t>
            </a:r>
          </a:p>
          <a:p>
            <a:r>
              <a:rPr lang="th-TH" dirty="0"/>
              <a:t>ติดตามงาน</a:t>
            </a:r>
          </a:p>
          <a:p>
            <a:r>
              <a:rPr lang="th-TH" dirty="0"/>
              <a:t>แนะนำ สอนงาน</a:t>
            </a:r>
          </a:p>
          <a:p>
            <a:r>
              <a:rPr lang="th-TH" dirty="0"/>
              <a:t>โน้มน้าว จูงใจ ลูกน้อง</a:t>
            </a:r>
          </a:p>
          <a:p>
            <a:r>
              <a:rPr lang="th-TH" dirty="0"/>
              <a:t>ช่วยแก้ปัญหา ทั้งในงานและส่วนตัว</a:t>
            </a:r>
          </a:p>
          <a:p>
            <a:r>
              <a:rPr lang="th-TH" dirty="0"/>
              <a:t>ให้คำปรึกษา</a:t>
            </a:r>
          </a:p>
          <a:p>
            <a:r>
              <a:rPr lang="th-TH" dirty="0"/>
              <a:t>ประเมินผลงานอย่างยุติธรรม</a:t>
            </a:r>
          </a:p>
          <a:p>
            <a:r>
              <a:rPr lang="th-TH" dirty="0"/>
              <a:t>ทำงานเป็นทีม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04273" y="1825625"/>
            <a:ext cx="3911077" cy="4351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dirty="0"/>
              <a:t>รับนโยบาย</a:t>
            </a:r>
          </a:p>
          <a:p>
            <a:r>
              <a:rPr lang="th-TH" dirty="0"/>
              <a:t>แปลงนโยบายให้อยู่ในรูปปฏิบัติ</a:t>
            </a:r>
          </a:p>
          <a:p>
            <a:r>
              <a:rPr lang="th-TH" dirty="0"/>
              <a:t>ถ่ายทอดนโยบายที่อยู่ในรูปปฏิบัติลงไปสู่ลูกน้อง</a:t>
            </a:r>
          </a:p>
          <a:p>
            <a:r>
              <a:rPr lang="th-TH" dirty="0"/>
              <a:t>บทบาทต่อลูกน้อง</a:t>
            </a:r>
          </a:p>
          <a:p>
            <a:r>
              <a:rPr lang="th-TH" dirty="0"/>
              <a:t>ปกครอง ดูแล ลูกน้องให้ดี</a:t>
            </a:r>
          </a:p>
          <a:p>
            <a:r>
              <a:rPr lang="th-TH" dirty="0"/>
              <a:t>สร้างจิตสำนึกรักองค์กรให้เกิดขึ้นกับลูกน้อง</a:t>
            </a:r>
          </a:p>
        </p:txBody>
      </p:sp>
    </p:spTree>
    <p:extLst>
      <p:ext uri="{BB962C8B-B14F-4D97-AF65-F5344CB8AC3E}">
        <p14:creationId xmlns:p14="http://schemas.microsoft.com/office/powerpoint/2010/main" val="149109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</a:t>
            </a: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Canon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41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051"/>
          <p:cNvSpPr txBox="1">
            <a:spLocks noChangeArrowheads="1"/>
          </p:cNvSpPr>
          <p:nvPr/>
        </p:nvSpPr>
        <p:spPr bwMode="auto">
          <a:xfrm>
            <a:off x="573733" y="1483855"/>
            <a:ext cx="4501553" cy="7741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4431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“</a:t>
            </a:r>
            <a:r>
              <a:rPr lang="th-TH" altLang="ja-JP" sz="4431" b="1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ปรัชญา</a:t>
            </a:r>
            <a:r>
              <a:rPr lang="th-TH" altLang="ja-JP" sz="4431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ของบริษัท” </a:t>
            </a: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หมายถึง</a:t>
            </a:r>
          </a:p>
        </p:txBody>
      </p:sp>
      <p:sp>
        <p:nvSpPr>
          <p:cNvPr id="12" name="Text Box 2052"/>
          <p:cNvSpPr txBox="1">
            <a:spLocks noChangeArrowheads="1"/>
          </p:cNvSpPr>
          <p:nvPr/>
        </p:nvSpPr>
        <p:spPr bwMode="auto">
          <a:xfrm>
            <a:off x="573733" y="2128487"/>
            <a:ext cx="8174732" cy="1115049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ภารกิจที่พึงปฏิบัติให้สำเร็จลุล่วงให้สมดัง</a:t>
            </a:r>
            <a:r>
              <a:rPr lang="th-TH" altLang="ja-JP" sz="3323" b="1" dirty="0">
                <a:solidFill>
                  <a:srgbClr val="0070C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วัตถุประสงค์</a:t>
            </a: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ที่ก่อตั้งบริษัทขึ้นมา</a:t>
            </a:r>
          </a:p>
        </p:txBody>
      </p:sp>
      <p:sp>
        <p:nvSpPr>
          <p:cNvPr id="14" name="Text Box 2053"/>
          <p:cNvSpPr txBox="1">
            <a:spLocks noChangeArrowheads="1"/>
          </p:cNvSpPr>
          <p:nvPr/>
        </p:nvSpPr>
        <p:spPr bwMode="auto">
          <a:xfrm>
            <a:off x="590551" y="3701084"/>
            <a:ext cx="3397084" cy="7741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4431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“</a:t>
            </a:r>
            <a:r>
              <a:rPr lang="th-TH" altLang="ja-JP" sz="4431" b="1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หลักปฏิบัติ</a:t>
            </a:r>
            <a:r>
              <a:rPr lang="th-TH" altLang="ja-JP" sz="4431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” </a:t>
            </a: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หมายถึง</a:t>
            </a:r>
            <a:endParaRPr lang="ja-JP" altLang="en-US" sz="3323" dirty="0">
              <a:solidFill>
                <a:srgbClr val="000000"/>
              </a:solidFill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</p:txBody>
      </p:sp>
      <p:sp>
        <p:nvSpPr>
          <p:cNvPr id="16" name="Text Box 2054"/>
          <p:cNvSpPr txBox="1">
            <a:spLocks noChangeArrowheads="1"/>
          </p:cNvSpPr>
          <p:nvPr/>
        </p:nvSpPr>
        <p:spPr bwMode="auto">
          <a:xfrm>
            <a:off x="590551" y="4328749"/>
            <a:ext cx="7733539" cy="1115049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3323" b="1" dirty="0">
                <a:solidFill>
                  <a:srgbClr val="0070C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แบบอย่างหรือบรรทัดฐาน</a:t>
            </a: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ที่พนักงานทุกคนควรปฏิบัติเพื่อให้</a:t>
            </a:r>
          </a:p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3323" b="1" dirty="0">
                <a:solidFill>
                  <a:srgbClr val="00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ปรัชญาของบริษัทเป็นจริงขึ้นมาได้</a:t>
            </a:r>
            <a:endParaRPr lang="ja-JP" altLang="en-US" sz="3323" b="1" dirty="0">
              <a:solidFill>
                <a:srgbClr val="000000"/>
              </a:solidFill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</p:txBody>
      </p:sp>
      <p:sp>
        <p:nvSpPr>
          <p:cNvPr id="21" name="Text Box 2055"/>
          <p:cNvSpPr txBox="1">
            <a:spLocks noChangeArrowheads="1"/>
          </p:cNvSpPr>
          <p:nvPr/>
        </p:nvSpPr>
        <p:spPr bwMode="auto">
          <a:xfrm>
            <a:off x="2082784" y="6367866"/>
            <a:ext cx="6463629" cy="49013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defTabSz="703402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585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ที่มา</a:t>
            </a:r>
            <a:r>
              <a:rPr lang="en-US" altLang="ja-JP" sz="2585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: </a:t>
            </a:r>
            <a:r>
              <a:rPr lang="th-TH" altLang="ja-JP" sz="2585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จากหนังสือ “</a:t>
            </a:r>
            <a:r>
              <a:rPr lang="en-US" altLang="ja-JP" sz="2585" i="1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The Secondary Establishment Vision</a:t>
            </a:r>
            <a:r>
              <a:rPr lang="en-US" altLang="ja-JP" sz="2585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” </a:t>
            </a:r>
            <a:r>
              <a:rPr lang="th-TH" altLang="ja-JP" sz="2585" dirty="0">
                <a:solidFill>
                  <a:srgbClr val="00000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ปี ค.ศ. 1988</a:t>
            </a:r>
            <a:endParaRPr lang="ja-JP" altLang="en-US" sz="2585" dirty="0">
              <a:solidFill>
                <a:srgbClr val="000000"/>
              </a:solidFill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13" y="351647"/>
            <a:ext cx="7886700" cy="863529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2. Corporate Culture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FC2464-7161-40C3-B364-30453CCBDE47}" type="slidenum">
              <a:rPr lang="en-US" altLang="ja-JP" smtClean="0"/>
              <a:pPr>
                <a:defRPr/>
              </a:pPr>
              <a:t>11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31334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“</a:t>
            </a:r>
            <a:r>
              <a:rPr lang="en-US" dirty="0" err="1"/>
              <a:t>Kyosei</a:t>
            </a:r>
            <a:r>
              <a:rPr lang="en-US" dirty="0"/>
              <a:t>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53966" y="1947058"/>
            <a:ext cx="67617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3C4043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ความทุ่มเทของเราที่จะเห็น</a:t>
            </a:r>
            <a:r>
              <a:rPr lang="th-TH" sz="3200" b="1" dirty="0">
                <a:solidFill>
                  <a:srgbClr val="00B05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ทุกคน</a:t>
            </a:r>
            <a:r>
              <a:rPr lang="th-TH" sz="3200" b="1" dirty="0">
                <a:solidFill>
                  <a:srgbClr val="3C4043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โดยไม่คำนึงถึงวัฒนธรรม ขนบธรรมเนียม ภาษาหรือเชื้อชาติ </a:t>
            </a:r>
            <a:r>
              <a:rPr lang="th-TH" sz="3200" b="1" dirty="0">
                <a:solidFill>
                  <a:srgbClr val="00B05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ใช้ชีวิตอย่างกลมกลืนและทำงานร่วมกันอย่างมีความสุขในอนาคต</a:t>
            </a:r>
            <a:endParaRPr lang="en-US" sz="3200" b="1" dirty="0">
              <a:solidFill>
                <a:srgbClr val="00B05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61824" y="3773087"/>
            <a:ext cx="5253526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our dedication to seeing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  <a:t>all people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, regardless of culture, customs, language or race,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  <a:t>harmoniously living and working together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in happiness into the future.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11" y="0"/>
            <a:ext cx="2472004" cy="12099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4509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1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10"/>
          <p:cNvSpPr/>
          <p:nvPr/>
        </p:nvSpPr>
        <p:spPr>
          <a:xfrm>
            <a:off x="1823416" y="0"/>
            <a:ext cx="513474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altLang="ja-JP" sz="60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หลักปฏิบัติของแคนนอน</a:t>
            </a:r>
            <a:endParaRPr lang="ja-JP" altLang="en-US" sz="6000" b="1" dirty="0"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</p:txBody>
      </p:sp>
      <p:sp>
        <p:nvSpPr>
          <p:cNvPr id="12" name="正方形/長方形 8"/>
          <p:cNvSpPr/>
          <p:nvPr/>
        </p:nvSpPr>
        <p:spPr>
          <a:xfrm>
            <a:off x="335367" y="1356067"/>
            <a:ext cx="867387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spcAft>
                <a:spcPts val="1200"/>
              </a:spcAft>
              <a:buClr>
                <a:schemeClr val="tx2"/>
              </a:buClr>
              <a:buAutoNum type="arabicPeriod"/>
            </a:pP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หลัก </a:t>
            </a:r>
            <a:r>
              <a:rPr lang="en-US" altLang="ja-JP" sz="4400" b="1" dirty="0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San-</a:t>
            </a:r>
            <a:r>
              <a:rPr lang="en-US" altLang="ja-JP" sz="4400" b="1" dirty="0" err="1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ji</a:t>
            </a:r>
            <a:r>
              <a:rPr lang="en-US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 Spirit</a:t>
            </a:r>
          </a:p>
          <a:p>
            <a:pPr marL="742950" indent="-742950">
              <a:spcAft>
                <a:spcPts val="1200"/>
              </a:spcAft>
              <a:buClr>
                <a:schemeClr val="tx2"/>
              </a:buClr>
              <a:buAutoNum type="arabicPeriod"/>
            </a:pP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หลักความ</a:t>
            </a:r>
            <a:r>
              <a:rPr lang="th-TH" altLang="ja-JP" sz="4400" b="1" dirty="0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สามารถ</a:t>
            </a: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ที่แท้จริง </a:t>
            </a:r>
            <a:endParaRPr lang="en-US" altLang="ja-JP" sz="4400" b="1" dirty="0"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  <a:p>
            <a:pPr marL="742950" indent="-742950">
              <a:spcAft>
                <a:spcPts val="1200"/>
              </a:spcAft>
              <a:buClr>
                <a:schemeClr val="tx2"/>
              </a:buClr>
              <a:buAutoNum type="arabicPeriod"/>
            </a:pP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หลักการความเป็น</a:t>
            </a:r>
            <a:r>
              <a:rPr lang="th-TH" altLang="ja-JP" sz="4400" b="1" dirty="0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พลเมืองโลก</a:t>
            </a:r>
            <a:endParaRPr lang="en-US" altLang="ja-JP" sz="2400" b="1" dirty="0">
              <a:solidFill>
                <a:srgbClr val="0070C0"/>
              </a:solidFill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  <a:p>
            <a:pPr marL="742950" indent="-742950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แนวคิด</a:t>
            </a:r>
            <a:r>
              <a:rPr lang="th-TH" altLang="ja-JP" sz="4400" b="1" dirty="0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ครอบครัวใหม่</a:t>
            </a:r>
            <a:endParaRPr lang="en-US" altLang="ja-JP" sz="4400" b="1" dirty="0">
              <a:solidFill>
                <a:srgbClr val="0070C0"/>
              </a:solidFill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  <a:p>
            <a:pPr marL="742950" indent="-742950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แนวคิดการให้ความสำคัญกับ</a:t>
            </a:r>
            <a:r>
              <a:rPr lang="th-TH" altLang="ja-JP" sz="4400" b="1" dirty="0">
                <a:solidFill>
                  <a:srgbClr val="0070C0"/>
                </a:solidFill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สุขภาพ</a:t>
            </a:r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เป็นอันดับแรก</a:t>
            </a:r>
            <a:endParaRPr lang="ja-JP" altLang="en-US" sz="4400" b="1" dirty="0"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</p:txBody>
      </p:sp>
      <p:cxnSp>
        <p:nvCxnSpPr>
          <p:cNvPr id="13" name="直線コネクタ 5"/>
          <p:cNvCxnSpPr/>
          <p:nvPr/>
        </p:nvCxnSpPr>
        <p:spPr>
          <a:xfrm>
            <a:off x="335367" y="1015663"/>
            <a:ext cx="8424936" cy="0"/>
          </a:xfrm>
          <a:prstGeom prst="line">
            <a:avLst/>
          </a:prstGeom>
          <a:ln w="50800" cmpd="tri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スライド番号プレースホルダー 1"/>
          <p:cNvSpPr>
            <a:spLocks noGrp="1"/>
          </p:cNvSpPr>
          <p:nvPr>
            <p:ph type="sldNum" sz="quarter" idx="12"/>
          </p:nvPr>
        </p:nvSpPr>
        <p:spPr>
          <a:xfrm>
            <a:off x="7239000" y="6424354"/>
            <a:ext cx="1905000" cy="422031"/>
          </a:xfrm>
        </p:spPr>
        <p:txBody>
          <a:bodyPr/>
          <a:lstStyle/>
          <a:p>
            <a:pPr>
              <a:defRPr/>
            </a:pPr>
            <a:fld id="{1459B930-A51A-4946-9C82-704AB5B8AE40}" type="slidenum">
              <a:rPr lang="en-US" altLang="ja-JP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altLang="ja-JP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363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角丸四角形 13"/>
          <p:cNvSpPr/>
          <p:nvPr/>
        </p:nvSpPr>
        <p:spPr bwMode="auto">
          <a:xfrm>
            <a:off x="827584" y="2365497"/>
            <a:ext cx="7632848" cy="86409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none" rtlCol="0" anchor="ctr"/>
          <a:lstStyle/>
          <a:p>
            <a:pPr algn="ctr"/>
            <a:r>
              <a:rPr kumimoji="1" lang="th-TH" altLang="ja-JP" sz="3600" b="1" dirty="0">
                <a:solidFill>
                  <a:srgbClr val="FF0000"/>
                </a:solidFill>
                <a:latin typeface="PSL Script" panose="02020603050405020304" pitchFamily="18" charset="-34"/>
                <a:ea typeface="Meiryo UI" pitchFamily="50" charset="-128"/>
                <a:cs typeface="PSL Script" panose="02020603050405020304" pitchFamily="18" charset="-34"/>
              </a:rPr>
              <a:t>หลัก </a:t>
            </a:r>
            <a:r>
              <a:rPr kumimoji="1" lang="en-US" altLang="ja-JP" sz="3600" b="1" dirty="0">
                <a:solidFill>
                  <a:srgbClr val="FF0000"/>
                </a:solidFill>
                <a:latin typeface="PSL Script" panose="02020603050405020304" pitchFamily="18" charset="-34"/>
                <a:ea typeface="Meiryo UI" pitchFamily="50" charset="-128"/>
                <a:cs typeface="PSL Script" panose="02020603050405020304" pitchFamily="18" charset="-34"/>
              </a:rPr>
              <a:t>San – Ji Spirit </a:t>
            </a:r>
            <a:r>
              <a:rPr kumimoji="1" lang="en-US" altLang="ja-JP" sz="2800" b="1" dirty="0">
                <a:solidFill>
                  <a:srgbClr val="FF0000"/>
                </a:solidFill>
                <a:latin typeface="PSL Script" panose="02020603050405020304" pitchFamily="18" charset="-34"/>
                <a:ea typeface="Meiryo UI" pitchFamily="50" charset="-128"/>
                <a:cs typeface="PSL Script" panose="02020603050405020304" pitchFamily="18" charset="-34"/>
              </a:rPr>
              <a:t> </a:t>
            </a:r>
            <a:r>
              <a:rPr lang="th-TH" altLang="ja-JP" sz="2800" b="1" dirty="0">
                <a:solidFill>
                  <a:srgbClr val="FF0000"/>
                </a:solidFill>
                <a:latin typeface="PSL Script" panose="02020603050405020304" pitchFamily="18" charset="-34"/>
                <a:ea typeface="Meiryo UI" pitchFamily="50" charset="-128"/>
                <a:cs typeface="PSL Script" panose="02020603050405020304" pitchFamily="18" charset="-34"/>
              </a:rPr>
              <a:t>คือหลักปรัชญาในการบริหารของแคนนอน</a:t>
            </a:r>
          </a:p>
          <a:p>
            <a:pPr algn="ctr"/>
            <a:r>
              <a:rPr lang="th-TH" altLang="ja-JP" sz="2800" b="1" dirty="0">
                <a:solidFill>
                  <a:srgbClr val="FF0000"/>
                </a:solidFill>
                <a:latin typeface="PSL Script" panose="02020603050405020304" pitchFamily="18" charset="-34"/>
                <a:ea typeface="Meiryo UI" pitchFamily="50" charset="-128"/>
                <a:cs typeface="PSL Script" panose="02020603050405020304" pitchFamily="18" charset="-34"/>
              </a:rPr>
              <a:t>บนแนวคิดการยกย่องคุณค่าของมนุษย์</a:t>
            </a:r>
            <a:endParaRPr kumimoji="1" lang="th-TH" altLang="ja-JP" sz="2800" b="1" dirty="0">
              <a:solidFill>
                <a:srgbClr val="FF0000"/>
              </a:solidFill>
              <a:latin typeface="PSL Script" panose="02020603050405020304" pitchFamily="18" charset="-34"/>
              <a:ea typeface="Meiryo UI" pitchFamily="50" charset="-128"/>
              <a:cs typeface="PSL Script" panose="02020603050405020304" pitchFamily="18" charset="-34"/>
            </a:endParaRPr>
          </a:p>
        </p:txBody>
      </p:sp>
      <p:sp>
        <p:nvSpPr>
          <p:cNvPr id="17" name="フローチャート : 磁気ディスク 18"/>
          <p:cNvSpPr/>
          <p:nvPr/>
        </p:nvSpPr>
        <p:spPr bwMode="auto">
          <a:xfrm>
            <a:off x="251521" y="3592777"/>
            <a:ext cx="2664296" cy="2259943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none" rtlCol="0" anchor="ctr"/>
          <a:lstStyle/>
          <a:p>
            <a:pPr algn="ctr"/>
            <a:endParaRPr kumimoji="1" lang="en-US" altLang="ja-JP" sz="1662" b="1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r>
              <a:rPr lang="th-TH" altLang="ja-JP" sz="2400" b="1" dirty="0">
                <a:solidFill>
                  <a:srgbClr val="00206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ยกมืออาสาด้วยตนเอง</a:t>
            </a:r>
            <a:endParaRPr kumimoji="1" lang="en-US" altLang="ja-JP" sz="2400" b="1" dirty="0">
              <a:solidFill>
                <a:srgbClr val="002060"/>
              </a:solidFill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endParaRPr kumimoji="1"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r>
              <a:rPr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ไม่ว่าจะทำอะไรก็ตามก็จัดการโดย</a:t>
            </a:r>
          </a:p>
          <a:p>
            <a:pPr algn="ctr"/>
            <a:r>
              <a:rPr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ดำเนินการด้วยตนเองอย่างแข็งขันตั้งใจ</a:t>
            </a:r>
            <a:endParaRPr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sp>
        <p:nvSpPr>
          <p:cNvPr id="18" name="テキスト ボックス 19"/>
          <p:cNvSpPr txBox="1"/>
          <p:nvPr/>
        </p:nvSpPr>
        <p:spPr>
          <a:xfrm>
            <a:off x="827584" y="3725716"/>
            <a:ext cx="1584176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15" b="1" dirty="0">
                <a:latin typeface="Times New Roman" panose="02020603050405020304" pitchFamily="18" charset="0"/>
                <a:ea typeface="Meiryo UI" pitchFamily="50" charset="-128"/>
                <a:cs typeface="Times New Roman" panose="02020603050405020304" pitchFamily="18" charset="0"/>
              </a:rPr>
              <a:t>Ji - </a:t>
            </a:r>
            <a:r>
              <a:rPr kumimoji="1" lang="en-US" altLang="ja-JP" sz="2215" b="1" dirty="0" err="1">
                <a:latin typeface="Times New Roman" panose="02020603050405020304" pitchFamily="18" charset="0"/>
                <a:ea typeface="Meiryo UI" pitchFamily="50" charset="-128"/>
                <a:cs typeface="Times New Roman" panose="02020603050405020304" pitchFamily="18" charset="0"/>
              </a:rPr>
              <a:t>Hatsu</a:t>
            </a:r>
            <a:endParaRPr kumimoji="1" lang="ja-JP" altLang="en-US" sz="2215" b="1" dirty="0">
              <a:latin typeface="Times New Roman" panose="02020603050405020304" pitchFamily="18" charset="0"/>
              <a:ea typeface="Meiryo UI" pitchFamily="50" charset="-128"/>
              <a:cs typeface="Times New Roman" panose="02020603050405020304" pitchFamily="18" charset="0"/>
            </a:endParaRPr>
          </a:p>
        </p:txBody>
      </p:sp>
      <p:sp>
        <p:nvSpPr>
          <p:cNvPr id="30" name="フローチャート : 磁気ディスク 20"/>
          <p:cNvSpPr/>
          <p:nvPr/>
        </p:nvSpPr>
        <p:spPr bwMode="auto">
          <a:xfrm>
            <a:off x="3203848" y="3592777"/>
            <a:ext cx="2664296" cy="2259943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none" rtlCol="0" anchor="ctr"/>
          <a:lstStyle/>
          <a:p>
            <a:pPr algn="ctr"/>
            <a:endParaRPr kumimoji="1"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r>
              <a:rPr lang="th-TH" altLang="ja-JP" sz="2400" b="1" dirty="0">
                <a:solidFill>
                  <a:srgbClr val="00206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ทำงานอย่างมีความรับผิดชอบ</a:t>
            </a:r>
            <a:endParaRPr kumimoji="1" lang="en-US" altLang="ja-JP" sz="2400" b="1" dirty="0">
              <a:solidFill>
                <a:srgbClr val="002060"/>
              </a:solidFill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endParaRPr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r>
              <a:rPr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มีเจตคติในการรู้จักควบคุม</a:t>
            </a:r>
          </a:p>
          <a:p>
            <a:pPr algn="ctr"/>
            <a:r>
              <a:rPr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และจัดการตัวเอง</a:t>
            </a:r>
            <a:endParaRPr kumimoji="1"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sp>
        <p:nvSpPr>
          <p:cNvPr id="31" name="フローチャート : 磁気ディスク 21"/>
          <p:cNvSpPr/>
          <p:nvPr/>
        </p:nvSpPr>
        <p:spPr bwMode="auto">
          <a:xfrm>
            <a:off x="6156177" y="3592777"/>
            <a:ext cx="2664296" cy="2259943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none" rtlCol="0" anchor="ctr"/>
          <a:lstStyle/>
          <a:p>
            <a:pPr algn="ctr"/>
            <a:endParaRPr kumimoji="1"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endParaRPr kumimoji="1"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endParaRPr lang="en-US" altLang="ja-JP" sz="1662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  <a:p>
            <a:pPr algn="ctr"/>
            <a:r>
              <a:rPr kumimoji="1"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ตระหนักและรู้จักสถานะ บทบาทหน้าที่</a:t>
            </a:r>
          </a:p>
          <a:p>
            <a:pPr algn="ctr"/>
            <a:r>
              <a:rPr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และสถานการณ์ที่ตนเองเผชิญอยู่ได้</a:t>
            </a:r>
          </a:p>
          <a:p>
            <a:pPr algn="ctr"/>
            <a:r>
              <a:rPr kumimoji="1" lang="th-TH" altLang="ja-JP" sz="1662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เป็นอย่างดี</a:t>
            </a:r>
          </a:p>
        </p:txBody>
      </p:sp>
      <p:sp>
        <p:nvSpPr>
          <p:cNvPr id="32" name="テキスト ボックス 22"/>
          <p:cNvSpPr txBox="1"/>
          <p:nvPr/>
        </p:nvSpPr>
        <p:spPr>
          <a:xfrm>
            <a:off x="6660232" y="3725716"/>
            <a:ext cx="1728192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215" b="1" dirty="0">
                <a:latin typeface="Times New Roman" panose="02020603050405020304" pitchFamily="18" charset="0"/>
                <a:ea typeface="Meiryo UI" pitchFamily="50" charset="-128"/>
                <a:cs typeface="Times New Roman" panose="02020603050405020304" pitchFamily="18" charset="0"/>
              </a:rPr>
              <a:t>Ji - </a:t>
            </a:r>
            <a:r>
              <a:rPr lang="en-US" altLang="ja-JP" sz="2215" b="1" dirty="0" err="1">
                <a:latin typeface="Times New Roman" panose="02020603050405020304" pitchFamily="18" charset="0"/>
                <a:ea typeface="Meiryo UI" pitchFamily="50" charset="-128"/>
                <a:cs typeface="Times New Roman" panose="02020603050405020304" pitchFamily="18" charset="0"/>
              </a:rPr>
              <a:t>Kaku</a:t>
            </a:r>
            <a:endParaRPr kumimoji="1" lang="ja-JP" altLang="en-US" sz="2215" b="1" dirty="0">
              <a:latin typeface="Times New Roman" panose="02020603050405020304" pitchFamily="18" charset="0"/>
              <a:ea typeface="Meiryo UI" pitchFamily="50" charset="-128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23"/>
          <p:cNvSpPr txBox="1"/>
          <p:nvPr/>
        </p:nvSpPr>
        <p:spPr>
          <a:xfrm>
            <a:off x="3707904" y="3725716"/>
            <a:ext cx="1656184" cy="433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215" b="1" dirty="0">
                <a:latin typeface="Times New Roman" panose="02020603050405020304" pitchFamily="18" charset="0"/>
                <a:ea typeface="Meiryo UI" pitchFamily="50" charset="-128"/>
                <a:cs typeface="Times New Roman" panose="02020603050405020304" pitchFamily="18" charset="0"/>
              </a:rPr>
              <a:t>Ji - Chi</a:t>
            </a:r>
            <a:endParaRPr kumimoji="1" lang="ja-JP" altLang="en-US" sz="2215" b="1" dirty="0">
              <a:latin typeface="Times New Roman" panose="02020603050405020304" pitchFamily="18" charset="0"/>
              <a:ea typeface="Meiryo UI" pitchFamily="50" charset="-128"/>
              <a:cs typeface="Times New Roman" panose="02020603050405020304" pitchFamily="18" charset="0"/>
            </a:endParaRPr>
          </a:p>
        </p:txBody>
      </p:sp>
      <p:sp>
        <p:nvSpPr>
          <p:cNvPr id="34" name="正方形/長方形 25"/>
          <p:cNvSpPr/>
          <p:nvPr/>
        </p:nvSpPr>
        <p:spPr>
          <a:xfrm>
            <a:off x="944906" y="46322"/>
            <a:ext cx="69974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altLang="ja-JP" sz="5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แนวปฏิบัติสำคัญที่เป็นเสมือนพื้นฐาน</a:t>
            </a:r>
          </a:p>
        </p:txBody>
      </p:sp>
      <p:sp>
        <p:nvSpPr>
          <p:cNvPr id="35" name="正方形/長方形 26"/>
          <p:cNvSpPr/>
          <p:nvPr/>
        </p:nvSpPr>
        <p:spPr>
          <a:xfrm>
            <a:off x="827584" y="1235530"/>
            <a:ext cx="7632848" cy="88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แคนนอน มีหลักปฏิบัติโดยทั่วไป นั่นคือ การยึดถือหลัก 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San – Ji </a:t>
            </a:r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อันประกอบไปด้วย 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Ji-</a:t>
            </a:r>
            <a:r>
              <a:rPr lang="en-US" altLang="ja-JP" sz="2585" b="1" dirty="0" err="1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Hatsu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, Ji-Chi, </a:t>
            </a:r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และ 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Ji-</a:t>
            </a:r>
            <a:r>
              <a:rPr lang="en-US" altLang="ja-JP" sz="2585" b="1" dirty="0" err="1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Kaku</a:t>
            </a:r>
            <a:r>
              <a:rPr lang="en-US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 </a:t>
            </a:r>
            <a:r>
              <a:rPr lang="th-TH" altLang="ja-JP" sz="2585" b="1" dirty="0"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เป็นแนวทางในการปฏิบัติ</a:t>
            </a:r>
            <a:endParaRPr lang="ja-JP" altLang="en-US" sz="2585" b="1" dirty="0"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sp>
        <p:nvSpPr>
          <p:cNvPr id="36" name="テキスト ボックス 27"/>
          <p:cNvSpPr txBox="1"/>
          <p:nvPr/>
        </p:nvSpPr>
        <p:spPr>
          <a:xfrm>
            <a:off x="6149423" y="4390403"/>
            <a:ext cx="2671051" cy="404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altLang="ja-JP" sz="2031" b="1" dirty="0">
                <a:solidFill>
                  <a:srgbClr val="002060"/>
                </a:solidFill>
                <a:latin typeface="Angsana New" panose="02020603050405020304" pitchFamily="18" charset="-34"/>
                <a:ea typeface="Meiryo UI" pitchFamily="50" charset="-128"/>
                <a:cs typeface="Angsana New" panose="02020603050405020304" pitchFamily="18" charset="-34"/>
              </a:rPr>
              <a:t>ปฏิบัติได้อย่างถูกต้องเพราะรู้เท่าทัน</a:t>
            </a:r>
            <a:endParaRPr lang="en-US" altLang="ja-JP" sz="2031" b="1" dirty="0">
              <a:solidFill>
                <a:srgbClr val="002060"/>
              </a:solidFill>
              <a:latin typeface="Angsana New" panose="02020603050405020304" pitchFamily="18" charset="-34"/>
              <a:ea typeface="Meiryo UI" pitchFamily="50" charset="-128"/>
              <a:cs typeface="Angsana New" panose="02020603050405020304" pitchFamily="18" charset="-34"/>
            </a:endParaRPr>
          </a:p>
        </p:txBody>
      </p:sp>
      <p:cxnSp>
        <p:nvCxnSpPr>
          <p:cNvPr id="37" name="直線コネクタ 14"/>
          <p:cNvCxnSpPr/>
          <p:nvPr/>
        </p:nvCxnSpPr>
        <p:spPr>
          <a:xfrm>
            <a:off x="323528" y="903181"/>
            <a:ext cx="8424936" cy="0"/>
          </a:xfrm>
          <a:prstGeom prst="line">
            <a:avLst/>
          </a:prstGeom>
          <a:ln w="508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7202076" y="6401795"/>
            <a:ext cx="1905000" cy="422031"/>
          </a:xfrm>
        </p:spPr>
        <p:txBody>
          <a:bodyPr/>
          <a:lstStyle/>
          <a:p>
            <a:pPr>
              <a:defRPr/>
            </a:pPr>
            <a:fld id="{26FC2464-7161-40C3-B364-30453CCBDE47}" type="slidenum">
              <a:rPr lang="en-US" altLang="ja-JP" smtClean="0"/>
              <a:pPr>
                <a:defRPr/>
              </a:pPr>
              <a:t>14</a:t>
            </a:fld>
            <a:endParaRPr lang="en-US" altLang="ja-JP" dirty="0"/>
          </a:p>
        </p:txBody>
      </p:sp>
      <p:sp>
        <p:nvSpPr>
          <p:cNvPr id="2" name="Rectangle 1"/>
          <p:cNvSpPr/>
          <p:nvPr/>
        </p:nvSpPr>
        <p:spPr>
          <a:xfrm>
            <a:off x="412373" y="5909600"/>
            <a:ext cx="23425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Self-motivation</a:t>
            </a:r>
            <a:endParaRPr lang="en-US" sz="1200" dirty="0"/>
          </a:p>
          <a:p>
            <a:r>
              <a:rPr lang="en-US" sz="1200" dirty="0"/>
              <a:t>Take the initiative and be proactive in all things.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5553" y="5909600"/>
            <a:ext cx="23425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Self-management</a:t>
            </a:r>
          </a:p>
          <a:p>
            <a:r>
              <a:rPr lang="en-US" sz="1200" dirty="0"/>
              <a:t>Conduct oneself with responsibility and accountability.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38733" y="5909600"/>
            <a:ext cx="23425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Self-awareness</a:t>
            </a:r>
          </a:p>
          <a:p>
            <a:r>
              <a:rPr lang="en-US" sz="1200" dirty="0"/>
              <a:t>Understand one’s situation and role in all situations.</a:t>
            </a:r>
          </a:p>
        </p:txBody>
      </p:sp>
    </p:spTree>
    <p:extLst>
      <p:ext uri="{BB962C8B-B14F-4D97-AF65-F5344CB8AC3E}">
        <p14:creationId xmlns:p14="http://schemas.microsoft.com/office/powerpoint/2010/main" val="788296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4"/>
          <p:cNvSpPr/>
          <p:nvPr/>
        </p:nvSpPr>
        <p:spPr>
          <a:xfrm>
            <a:off x="323528" y="155574"/>
            <a:ext cx="84249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altLang="ja-JP" sz="48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หลักปฏิบัติอื่นอีก 4 ประการ</a:t>
            </a:r>
          </a:p>
        </p:txBody>
      </p:sp>
      <p:sp>
        <p:nvSpPr>
          <p:cNvPr id="8" name="テキスト ボックス 14"/>
          <p:cNvSpPr txBox="1"/>
          <p:nvPr/>
        </p:nvSpPr>
        <p:spPr>
          <a:xfrm>
            <a:off x="275130" y="1026319"/>
            <a:ext cx="8868870" cy="5286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หลักความสามารถที่แท้จริง (วัดคนที่ผลของาน)</a:t>
            </a:r>
            <a:endParaRPr kumimoji="1" lang="en-US" altLang="ja-JP" sz="332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lang="th-TH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ใฝ่หาความสามารถในการทำงาน (</a:t>
            </a:r>
            <a:r>
              <a:rPr lang="en-US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V) </a:t>
            </a:r>
            <a:r>
              <a:rPr lang="th-TH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ความเชี่ยวชาญ (</a:t>
            </a:r>
            <a:r>
              <a:rPr lang="en-US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S) </a:t>
            </a:r>
            <a:r>
              <a:rPr lang="th-TH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ความคิดริเริ่มสร้างสรรค์ (</a:t>
            </a:r>
            <a:r>
              <a:rPr lang="en-US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O) </a:t>
            </a:r>
            <a:r>
              <a:rPr lang="th-TH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และพัฒนาบุคลิกภาพ (</a:t>
            </a:r>
            <a:r>
              <a:rPr lang="en-US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P) </a:t>
            </a:r>
            <a:r>
              <a:rPr lang="th-TH" altLang="ja-JP" sz="2000" b="1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อยู่เสมอ </a:t>
            </a:r>
          </a:p>
          <a:p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</a:t>
            </a:r>
            <a:r>
              <a:rPr lang="en-US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	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เพื่อให้สามารถ</a:t>
            </a:r>
            <a:r>
              <a:rPr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แสดงความสามารถที่แท้จริง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ออกมาได้บนระบบที่มีความเที่ยงตรงยุติธรรม</a:t>
            </a:r>
          </a:p>
          <a:p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	จึงต้องมี</a:t>
            </a:r>
            <a:r>
              <a:rPr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จิตวิญญาณแห่งการท้าทาย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และ</a:t>
            </a:r>
            <a:r>
              <a:rPr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อุปนิสัยพื้นฐานเพื่อการพัฒนาตนเอง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อยู่เสมอ</a:t>
            </a:r>
            <a:endParaRPr lang="th-TH" altLang="ja-JP" sz="2000" dirty="0"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endParaRPr kumimoji="1" lang="en-US" altLang="ja-JP" sz="1292" dirty="0"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lang="th-TH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หลักการความเป็นพลเมืองโลก</a:t>
            </a:r>
            <a:r>
              <a:rPr lang="en-US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/</a:t>
            </a:r>
            <a:r>
              <a:rPr lang="th-TH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หลักบุคคลสากล</a:t>
            </a:r>
            <a:endParaRPr lang="en-US" altLang="ja-JP" sz="332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kumimoji="1"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เข้าใจความแตกต่าง</a:t>
            </a:r>
            <a:r>
              <a:rPr kumimoji="1"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ทางวัฒนธรรม และ</a:t>
            </a:r>
            <a:r>
              <a:rPr kumimoji="1"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ตั้งใจพัฒนาตนเอง</a:t>
            </a:r>
            <a:r>
              <a:rPr kumimoji="1"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ไปสู่ความเป็นพลเมืองโลกที่จับต้องได้และจริงใจ</a:t>
            </a:r>
          </a:p>
          <a:p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</a:t>
            </a:r>
            <a:r>
              <a:rPr lang="en-US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   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  <a:sym typeface="Wingdings"/>
              </a:rPr>
              <a:t>เข้าใจสามัญสำนึกที่แตกต่างและค่านิยมอันหลากหลาย ทั้งยังมีวิจารณญาณและการปฏิบัติที่ยืดหยุ่นปรับตัวได้</a:t>
            </a:r>
          </a:p>
          <a:p>
            <a:endParaRPr lang="en-US" altLang="ja-JP" sz="1292" dirty="0"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kumimoji="1" lang="th-TH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แนวคิดครอบครัวใหม่</a:t>
            </a:r>
            <a:endParaRPr kumimoji="1" lang="en-US" altLang="ja-JP" sz="332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เคารพและให้ความสำคัญ กระชับความ</a:t>
            </a:r>
            <a:r>
              <a:rPr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เชื่อมั่นและความเข้าใจ</a:t>
            </a:r>
            <a:r>
              <a:rPr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ซึ่งกันและกันให้แน่นแฟ้น ยึดถือจิตวิญญาณแห่งความแนบแน่นกลมเกลียวเป็นหนึ่งเดียวกัน</a:t>
            </a:r>
          </a:p>
          <a:p>
            <a:endParaRPr kumimoji="1" lang="en-US" altLang="ja-JP" sz="1662" dirty="0"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lang="th-TH" altLang="ja-JP" sz="332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แนวคิดการให้ความสำคัญกับสุขภาพเป็นอันดับแรก</a:t>
            </a:r>
            <a:endParaRPr lang="en-US" altLang="ja-JP" sz="332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  <a:p>
            <a:r>
              <a:rPr kumimoji="1"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ยึดถือ</a:t>
            </a:r>
            <a:r>
              <a:rPr kumimoji="1" lang="th-TH" altLang="ja-JP" sz="2000" dirty="0">
                <a:solidFill>
                  <a:srgbClr val="FF0000"/>
                </a:solidFill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สุขภาพที่แข็งแรง</a:t>
            </a:r>
            <a:r>
              <a:rPr kumimoji="1" lang="th-TH" altLang="ja-JP" sz="2000" dirty="0">
                <a:latin typeface="PSL Methinee" panose="02020603050405020304" pitchFamily="18" charset="-34"/>
                <a:ea typeface="Meiryo UI" pitchFamily="50" charset="-128"/>
                <a:cs typeface="PSL Methinee" panose="02020603050405020304" pitchFamily="18" charset="-34"/>
              </a:rPr>
              <a:t>และความร่าเริงแจ่มใสเป็นคติประจำใจเพื่อบ่มเพาะให้เป็นบุคลิกภาพและสุขลักษณะที่ดี</a:t>
            </a:r>
            <a:endParaRPr kumimoji="1" lang="ja-JP" altLang="en-US" sz="2000" dirty="0">
              <a:latin typeface="PSL Methinee" panose="02020603050405020304" pitchFamily="18" charset="-34"/>
              <a:ea typeface="Meiryo UI" pitchFamily="50" charset="-128"/>
              <a:cs typeface="PSL Methinee" panose="02020603050405020304" pitchFamily="18" charset="-34"/>
            </a:endParaRPr>
          </a:p>
        </p:txBody>
      </p:sp>
      <p:cxnSp>
        <p:nvCxnSpPr>
          <p:cNvPr id="9" name="直線コネクタ 5"/>
          <p:cNvCxnSpPr/>
          <p:nvPr/>
        </p:nvCxnSpPr>
        <p:spPr>
          <a:xfrm>
            <a:off x="323528" y="903181"/>
            <a:ext cx="8424936" cy="0"/>
          </a:xfrm>
          <a:prstGeom prst="line">
            <a:avLst/>
          </a:prstGeom>
          <a:ln w="508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1"/>
          <p:cNvSpPr>
            <a:spLocks noGrp="1"/>
          </p:cNvSpPr>
          <p:nvPr>
            <p:ph type="sldNum" sz="quarter" idx="12"/>
          </p:nvPr>
        </p:nvSpPr>
        <p:spPr>
          <a:xfrm>
            <a:off x="7239000" y="6435969"/>
            <a:ext cx="1905000" cy="422031"/>
          </a:xfrm>
        </p:spPr>
        <p:txBody>
          <a:bodyPr/>
          <a:lstStyle/>
          <a:p>
            <a:pPr>
              <a:defRPr/>
            </a:pPr>
            <a:fld id="{1459B930-A51A-4946-9C82-704AB5B8AE40}" type="slidenum">
              <a:rPr lang="en-US" altLang="ja-JP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altLang="ja-JP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24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6"/>
          <p:cNvGrpSpPr/>
          <p:nvPr/>
        </p:nvGrpSpPr>
        <p:grpSpPr>
          <a:xfrm>
            <a:off x="2627786" y="1567870"/>
            <a:ext cx="3744416" cy="3256977"/>
            <a:chOff x="5436096" y="1700808"/>
            <a:chExt cx="3744416" cy="3528392"/>
          </a:xfrm>
        </p:grpSpPr>
        <p:sp>
          <p:nvSpPr>
            <p:cNvPr id="18" name="円/楕円 17"/>
            <p:cNvSpPr/>
            <p:nvPr/>
          </p:nvSpPr>
          <p:spPr>
            <a:xfrm>
              <a:off x="6588224" y="1700808"/>
              <a:ext cx="1440160" cy="129614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kumimoji="1" lang="th-TH" altLang="ja-JP" sz="1846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ให้เกียรติผู้อื่น</a:t>
              </a:r>
              <a:endParaRPr kumimoji="1" lang="ja-JP" altLang="en-US" sz="1846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endParaRPr>
            </a:p>
          </p:txBody>
        </p:sp>
        <p:sp>
          <p:nvSpPr>
            <p:cNvPr id="19" name="円/楕円 18"/>
            <p:cNvSpPr/>
            <p:nvPr/>
          </p:nvSpPr>
          <p:spPr>
            <a:xfrm>
              <a:off x="5436096" y="3933056"/>
              <a:ext cx="1440160" cy="129614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kumimoji="1" lang="th-TH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ให้ความ</a:t>
              </a:r>
              <a:r>
                <a:rPr kumimoji="1" lang="en-US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kumimoji="1" lang="th-TH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สำคัญกับเทคโนโลยี</a:t>
              </a:r>
              <a:endParaRPr kumimoji="1" lang="ja-JP" altLang="en-US" sz="1569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endParaRPr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7740352" y="3933056"/>
              <a:ext cx="1440160" cy="129614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kumimoji="1" lang="th-TH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การริเริ่ม</a:t>
              </a:r>
              <a:r>
                <a:rPr kumimoji="1" lang="en-US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  <a:p>
              <a:pPr algn="ctr"/>
              <a:r>
                <a:rPr kumimoji="1" lang="th-TH" altLang="ja-JP" sz="1569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สิ่งใหม่</a:t>
              </a:r>
              <a:endParaRPr kumimoji="1" lang="ja-JP" altLang="en-US" sz="1569" dirty="0">
                <a:solidFill>
                  <a:srgbClr val="C00000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endParaRPr>
            </a:p>
          </p:txBody>
        </p:sp>
        <p:sp>
          <p:nvSpPr>
            <p:cNvPr id="34" name="円/楕円 33"/>
            <p:cNvSpPr/>
            <p:nvPr/>
          </p:nvSpPr>
          <p:spPr>
            <a:xfrm>
              <a:off x="6228184" y="2708920"/>
              <a:ext cx="2160240" cy="2016224"/>
            </a:xfrm>
            <a:prstGeom prst="ellipse">
              <a:avLst/>
            </a:prstGeom>
            <a:solidFill>
              <a:srgbClr val="FF0000">
                <a:alpha val="34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846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Canon </a:t>
              </a:r>
            </a:p>
            <a:p>
              <a:pPr algn="ctr"/>
              <a:r>
                <a:rPr lang="en-US" altLang="ja-JP" sz="1846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DNA</a:t>
              </a:r>
              <a:endParaRPr kumimoji="1" lang="ja-JP" altLang="en-US" sz="1846" dirty="0">
                <a:solidFill>
                  <a:schemeClr val="tx1"/>
                </a:solidFill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endParaRPr>
            </a:p>
          </p:txBody>
        </p:sp>
      </p:grpSp>
      <p:cxnSp>
        <p:nvCxnSpPr>
          <p:cNvPr id="36" name="直線コネクタ 35"/>
          <p:cNvCxnSpPr/>
          <p:nvPr/>
        </p:nvCxnSpPr>
        <p:spPr>
          <a:xfrm>
            <a:off x="395538" y="1162488"/>
            <a:ext cx="8424936" cy="0"/>
          </a:xfrm>
          <a:prstGeom prst="line">
            <a:avLst/>
          </a:prstGeom>
          <a:ln w="5080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/>
          <p:cNvSpPr/>
          <p:nvPr/>
        </p:nvSpPr>
        <p:spPr>
          <a:xfrm>
            <a:off x="961636" y="292716"/>
            <a:ext cx="72298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altLang="ja-JP" sz="4400" b="1" dirty="0">
                <a:latin typeface="PSL ThaiAntique" panose="02020603050405020304" pitchFamily="18" charset="-34"/>
                <a:ea typeface="Meiryo UI" pitchFamily="50" charset="-128"/>
                <a:cs typeface="PSL ThaiAntique" panose="02020603050405020304" pitchFamily="18" charset="-34"/>
              </a:rPr>
              <a:t>จิตวิญญาณขององค์กรเพื่อทำให้บรรลุวิสัยทัศน์</a:t>
            </a:r>
            <a:endParaRPr lang="ja-JP" altLang="en-US" sz="4400" b="1" dirty="0">
              <a:latin typeface="PSL ThaiAntique" panose="02020603050405020304" pitchFamily="18" charset="-34"/>
              <a:ea typeface="Meiryo UI" pitchFamily="50" charset="-128"/>
              <a:cs typeface="PSL ThaiAntique" panose="02020603050405020304" pitchFamily="18" charset="-34"/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35497" y="1304672"/>
            <a:ext cx="3355404" cy="1001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954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Canon DNA </a:t>
            </a:r>
            <a:r>
              <a:rPr lang="th-TH" altLang="ja-JP" sz="2954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ที่สืบทอด</a:t>
            </a:r>
          </a:p>
          <a:p>
            <a:r>
              <a:rPr lang="th-TH" altLang="ja-JP" sz="2954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กันมาอย่างต่อเนื่อง</a:t>
            </a:r>
            <a:endParaRPr lang="ja-JP" altLang="en-US" sz="2954" b="1" dirty="0">
              <a:latin typeface="Cordia New" pitchFamily="34" charset="-34"/>
              <a:ea typeface="Meiryo UI" pitchFamily="50" charset="-128"/>
              <a:cs typeface="Cordia New" pitchFamily="34" charset="-34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5220074" y="1796814"/>
            <a:ext cx="3384375" cy="60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62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lang="th-TH" altLang="ja-JP" sz="166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หลักความสามารถที่แท้จริง </a:t>
            </a:r>
            <a:endParaRPr lang="en-US" altLang="ja-JP" sz="1662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kumimoji="1" lang="ja-JP" altLang="en-US" sz="1662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kumimoji="1" lang="th-TH" altLang="ja-JP" sz="166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หลักสุขภาพอันดับหนึ่ง</a:t>
            </a:r>
            <a:endParaRPr kumimoji="1" lang="ja-JP" altLang="en-US" sz="1662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539554" y="4226631"/>
            <a:ext cx="2088232" cy="60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62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kumimoji="1" lang="th-TH" altLang="ja-JP" sz="166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ทำให้แตกต่างโดยเทคโนโลยี</a:t>
            </a:r>
            <a:endParaRPr kumimoji="1" lang="ja-JP" altLang="en-US" sz="1662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6505161" y="3928323"/>
            <a:ext cx="2088232" cy="60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62" dirty="0">
                <a:latin typeface="Tahoma" panose="020B0604030504040204" pitchFamily="34" charset="0"/>
                <a:ea typeface="Meiryo UI" pitchFamily="50" charset="-128"/>
                <a:cs typeface="Tahoma" panose="020B0604030504040204" pitchFamily="34" charset="0"/>
              </a:rPr>
              <a:t>・</a:t>
            </a:r>
            <a:r>
              <a:rPr kumimoji="1" lang="th-TH" altLang="ja-JP" sz="1662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ท้าทายในฐานะของบริษัทร่วมทุน</a:t>
            </a:r>
            <a:endParaRPr kumimoji="1" lang="ja-JP" altLang="en-US" sz="1662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</p:txBody>
      </p:sp>
      <p:sp>
        <p:nvSpPr>
          <p:cNvPr id="42" name="下矢印 41"/>
          <p:cNvSpPr/>
          <p:nvPr/>
        </p:nvSpPr>
        <p:spPr>
          <a:xfrm>
            <a:off x="2915818" y="5290131"/>
            <a:ext cx="3384376" cy="398814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215">
              <a:solidFill>
                <a:schemeClr val="tx1"/>
              </a:solidFill>
              <a:latin typeface="Cordia New" pitchFamily="34" charset="-34"/>
              <a:ea typeface="Meiryo UI" pitchFamily="50" charset="-128"/>
              <a:cs typeface="Cordia New" pitchFamily="34" charset="-34"/>
            </a:endParaRPr>
          </a:p>
        </p:txBody>
      </p:sp>
      <p:sp>
        <p:nvSpPr>
          <p:cNvPr id="43" name="正方形/長方形 42"/>
          <p:cNvSpPr/>
          <p:nvPr/>
        </p:nvSpPr>
        <p:spPr>
          <a:xfrm>
            <a:off x="3575787" y="4854328"/>
            <a:ext cx="2598788" cy="3763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altLang="ja-JP" sz="184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ข้อเสนอใหม่สำหรับสังคม</a:t>
            </a:r>
            <a:endParaRPr lang="ja-JP" altLang="en-US" sz="1846" dirty="0">
              <a:latin typeface="Tahoma" panose="020B0604030504040204" pitchFamily="34" charset="0"/>
              <a:ea typeface="Meiryo UI" pitchFamily="50" charset="-128"/>
              <a:cs typeface="Tahoma" panose="020B0604030504040204" pitchFamily="34" charset="0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1979712" y="5870660"/>
            <a:ext cx="5355953" cy="490134"/>
          </a:xfrm>
          <a:prstGeom prst="rect">
            <a:avLst/>
          </a:prstGeom>
          <a:solidFill>
            <a:srgbClr val="FFFFCC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th-TH" altLang="ja-JP" sz="2585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เพื่อการพัฒนาอย่างต่อเนื่องใน</a:t>
            </a:r>
            <a:r>
              <a:rPr lang="en-US" altLang="ja-JP" sz="2585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100 </a:t>
            </a:r>
            <a:r>
              <a:rPr lang="th-TH" altLang="ja-JP" sz="2585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ปี, </a:t>
            </a:r>
            <a:r>
              <a:rPr lang="en-US" altLang="ja-JP" sz="2585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200 </a:t>
            </a:r>
            <a:r>
              <a:rPr lang="th-TH" altLang="ja-JP" sz="2585" b="1" dirty="0">
                <a:latin typeface="Cordia New" pitchFamily="34" charset="-34"/>
                <a:ea typeface="Meiryo UI" pitchFamily="50" charset="-128"/>
                <a:cs typeface="Cordia New" pitchFamily="34" charset="-34"/>
              </a:rPr>
              <a:t>ปีข้างหน้า</a:t>
            </a:r>
            <a:endParaRPr lang="ja-JP" altLang="en-US" sz="2585" b="1" dirty="0">
              <a:latin typeface="Cordia New" pitchFamily="34" charset="-34"/>
              <a:ea typeface="Meiryo UI" pitchFamily="50" charset="-128"/>
              <a:cs typeface="Cordia New" pitchFamily="34" charset="-34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7239000" y="6435969"/>
            <a:ext cx="1905000" cy="422031"/>
          </a:xfrm>
        </p:spPr>
        <p:txBody>
          <a:bodyPr/>
          <a:lstStyle/>
          <a:p>
            <a:pPr>
              <a:defRPr/>
            </a:pPr>
            <a:fld id="{26FC2464-7161-40C3-B364-30453CCBDE47}" type="slidenum">
              <a:rPr lang="en-US" altLang="ja-JP" smtClean="0"/>
              <a:pPr>
                <a:defRPr/>
              </a:pPr>
              <a:t>16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9281302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</a:rPr>
              <a:t>Canon Compliance</a:t>
            </a:r>
            <a:endParaRPr lang="en-US" sz="1400" dirty="0">
              <a:solidFill>
                <a:srgbClr val="00206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92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238875"/>
            <a:ext cx="2057400" cy="365125"/>
          </a:xfrm>
        </p:spPr>
        <p:txBody>
          <a:bodyPr/>
          <a:lstStyle/>
          <a:p>
            <a:fld id="{755D8569-FB47-43C5-AEE7-2B446658A5E0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334412739"/>
              </p:ext>
            </p:extLst>
          </p:nvPr>
        </p:nvGraphicFramePr>
        <p:xfrm>
          <a:off x="2371475" y="1084272"/>
          <a:ext cx="6049108" cy="550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/>
          <p:cNvSpPr/>
          <p:nvPr/>
        </p:nvSpPr>
        <p:spPr>
          <a:xfrm>
            <a:off x="329223" y="1236754"/>
            <a:ext cx="2695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PSL Methinee" panose="02020603050405020304" pitchFamily="18" charset="-34"/>
                <a:cs typeface="PSL Methinee" panose="02020603050405020304" pitchFamily="18" charset="-34"/>
              </a:rPr>
              <a:t>Compliance </a:t>
            </a:r>
            <a:r>
              <a:rPr lang="th-TH" sz="24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คือ การยึดมั่น และ </a:t>
            </a:r>
            <a:r>
              <a:rPr lang="th-TH" sz="2400" b="1" i="1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ปฎิบัติตามกฎหมายและ ข้อบังคับต่างๆของบริษัท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" y="226111"/>
            <a:ext cx="9117936" cy="109945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Canon Compliance</a:t>
            </a:r>
          </a:p>
        </p:txBody>
      </p:sp>
    </p:spTree>
    <p:extLst>
      <p:ext uri="{BB962C8B-B14F-4D97-AF65-F5344CB8AC3E}">
        <p14:creationId xmlns:p14="http://schemas.microsoft.com/office/powerpoint/2010/main" val="1960041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2070"/>
            <a:ext cx="8229600" cy="715962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US" altLang="ja-JP" sz="4400" b="1" dirty="0">
                <a:solidFill>
                  <a:srgbClr val="D131FD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1. </a:t>
            </a:r>
            <a:r>
              <a:rPr lang="th-TH" altLang="ja-JP" sz="4400" b="1" dirty="0">
                <a:solidFill>
                  <a:srgbClr val="D131FD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การปฏิบัติตามกฎหมายและจริยธรรมบริษัท</a:t>
            </a:r>
            <a:r>
              <a:rPr lang="en-US" altLang="ja-JP" sz="4400" b="1" dirty="0">
                <a:solidFill>
                  <a:srgbClr val="D131FD"/>
                </a:solidFill>
                <a:latin typeface="PSL ThaiAntique" panose="02020603050405020304" pitchFamily="18" charset="-34"/>
                <a:ea typeface="MS PGothic" pitchFamily="34" charset="-128"/>
                <a:cs typeface="PSL ThaiAntique" panose="02020603050405020304" pitchFamily="18" charset="-34"/>
              </a:rPr>
              <a:t> </a:t>
            </a:r>
            <a:endParaRPr lang="th-TH" altLang="ja-JP" sz="4400" b="1" dirty="0">
              <a:solidFill>
                <a:srgbClr val="D131FD"/>
              </a:solidFill>
              <a:latin typeface="PSL ThaiAntique" panose="02020603050405020304" pitchFamily="18" charset="-34"/>
              <a:ea typeface="MS PGothic" pitchFamily="34" charset="-128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8569-FB47-43C5-AEE7-2B446658A5E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64752" y="1217955"/>
            <a:ext cx="5086878" cy="1554480"/>
          </a:xfrm>
          <a:prstGeom prst="rect">
            <a:avLst/>
          </a:prstGeom>
          <a:ln>
            <a:solidFill>
              <a:srgbClr val="D131FD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1" rIns="66171" bIns="66172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kern="1200" dirty="0">
                <a:latin typeface="Angsana New" pitchFamily="18" charset="-34"/>
                <a:cs typeface="AngsanaUPC" pitchFamily="18" charset="-34"/>
              </a:rPr>
              <a:t>พนักงานในบริษัทแคนนอนต้อง</a:t>
            </a:r>
            <a:r>
              <a:rPr lang="th-TH" altLang="ja-JP" sz="2400" kern="1200" dirty="0">
                <a:solidFill>
                  <a:srgbClr val="FF0000"/>
                </a:solidFill>
                <a:latin typeface="Angsana New" pitchFamily="18" charset="-34"/>
                <a:cs typeface="AngsanaUPC" pitchFamily="18" charset="-34"/>
              </a:rPr>
              <a:t>ปฏิบัติงานอย่างซื่อสัตย์และยุติธรรม</a:t>
            </a:r>
            <a:r>
              <a:rPr lang="th-TH" altLang="ja-JP" sz="2400" kern="1200" dirty="0">
                <a:latin typeface="Angsana New" pitchFamily="18" charset="-34"/>
                <a:cs typeface="AngsanaUPC" pitchFamily="18" charset="-34"/>
              </a:rPr>
              <a:t>ไม่เกี่ยวข้องกับพฤติกรรมที่ไม่เหมาะสมและขัดต่อจริยธรรมองค์กร</a:t>
            </a:r>
            <a:endParaRPr lang="en-US" sz="2400" kern="1200" dirty="0"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3385" y="1221767"/>
            <a:ext cx="2861368" cy="1554480"/>
          </a:xfrm>
          <a:prstGeom prst="rect">
            <a:avLst/>
          </a:prstGeom>
          <a:solidFill>
            <a:srgbClr val="FFD9FF"/>
          </a:solidFill>
          <a:ln>
            <a:solidFill>
              <a:srgbClr val="D131FD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634" tIns="143674" rIns="204634" bIns="143674" numCol="1" spcCol="1270" anchor="ctr" anchorCtr="0">
            <a:noAutofit/>
          </a:bodyPr>
          <a:lstStyle/>
          <a:p>
            <a:pPr lvl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(1)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ยุติธรรมและซื่อสัตย์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4752" y="3000895"/>
            <a:ext cx="5086878" cy="1554480"/>
          </a:xfrm>
          <a:prstGeom prst="rect">
            <a:avLst/>
          </a:prstGeom>
          <a:ln>
            <a:solidFill>
              <a:srgbClr val="D131FD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228600" lvl="1" indent="-228600" algn="l" defTabSz="9779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พนักงานในบริษัทแคนนอนต้องมีความ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เข้าใจในกฎหมาย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ต่างๆที่บังคับใช้ในพื้นที่ที่ดำเนินกิจการอย่างถ่องแท้ ยังรวมถึง 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กฎ และข้อบังคับ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อื่นๆของบริษัท โดยจะต้องปฎิบัติตามกฎและข้อบังคับต่างๆข้างต้นนั้นอย่างเคร่งครัด</a:t>
            </a:r>
            <a:endParaRPr lang="en-US" sz="24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385" y="3000895"/>
            <a:ext cx="2861368" cy="1554480"/>
          </a:xfrm>
          <a:prstGeom prst="rect">
            <a:avLst/>
          </a:prstGeom>
          <a:solidFill>
            <a:srgbClr val="FFD9FF"/>
          </a:solidFill>
          <a:ln>
            <a:solidFill>
              <a:srgbClr val="D131FD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634" tIns="143674" rIns="204634" bIns="143674" numCol="1" spcCol="1270" anchor="ctr" anchorCtr="0">
            <a:noAutofit/>
          </a:bodyPr>
          <a:lstStyle/>
          <a:p>
            <a:pPr lvl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(2)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การปฏิบัติหน้าที่อย่างถูกกฎหมาย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4752" y="4780024"/>
            <a:ext cx="5086878" cy="1554480"/>
          </a:xfrm>
          <a:prstGeom prst="rect">
            <a:avLst/>
          </a:prstGeom>
          <a:ln>
            <a:solidFill>
              <a:srgbClr val="D131FD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ใช้กฎหมายหรือข้อบังคับต่างๆหากพบว่ามีความกำกวมในการนำไปบังคับใช้งานพนักงานสามารถขอรับคำแนะนำจากฝ่ายงานที่รับผิดชอบโดยตรง</a:t>
            </a:r>
            <a:endParaRPr lang="en-US" sz="24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3385" y="4780024"/>
            <a:ext cx="2861368" cy="1554480"/>
          </a:xfrm>
          <a:prstGeom prst="rect">
            <a:avLst/>
          </a:prstGeom>
          <a:solidFill>
            <a:srgbClr val="FFD9FF"/>
          </a:solidFill>
          <a:ln>
            <a:solidFill>
              <a:srgbClr val="D131FD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434" tIns="82714" rIns="82714" bIns="82714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32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(3)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การตีความกฎหมาย</a:t>
            </a:r>
            <a:r>
              <a:rPr lang="en-US" altLang="ja-JP" sz="32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ข้อบังคับ</a:t>
            </a:r>
            <a:r>
              <a:rPr lang="en-US" altLang="ja-JP" sz="32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และกฏบริษัทที่เกี่ยวข้อง</a:t>
            </a:r>
            <a:r>
              <a:rPr lang="en-US" altLang="ja-JP" sz="32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13276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th-TH" altLang="ja-JP" sz="4400" b="1" dirty="0">
                <a:solidFill>
                  <a:srgbClr val="7030A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2.</a:t>
            </a:r>
            <a:r>
              <a:rPr lang="en-US" altLang="ja-JP" sz="4400" b="1" dirty="0">
                <a:solidFill>
                  <a:srgbClr val="7030A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th-TH" altLang="ja-JP" sz="4400" b="1" dirty="0">
                <a:solidFill>
                  <a:srgbClr val="7030A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การควบคุมดูแลทรัพย์สินของบริษัท</a:t>
            </a:r>
            <a:endParaRPr lang="th-TH" altLang="ja-JP" sz="4400" b="1" dirty="0">
              <a:solidFill>
                <a:srgbClr val="7030A0"/>
              </a:solidFill>
              <a:latin typeface="PSL ThaiAntique" panose="02020603050405020304" pitchFamily="18" charset="-34"/>
              <a:ea typeface="MS PGothic" pitchFamily="34" charset="-128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8569-FB47-43C5-AEE7-2B446658A5E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64752" y="1221767"/>
            <a:ext cx="5086878" cy="137160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1" rIns="66171" bIns="66172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พนักงานในบริษัทแคนนอนต้อง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ดูแลรักษาทรัพย์สินของบริษัทอย่างเต็มความสามารถ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ให้สอดคล้องกับกฎที่บริษัทตั้งไว้ ทรัพย์สินของบริษัท เช่น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ผลิตภัณฑ์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สินค้า วัสดุสิ้นเปลือง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สิ่งอำนวยความสะดวกต่างๆ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เครื่องมือและอุปกรณ์การสื่อสาร เป็นต้น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3385" y="1221767"/>
            <a:ext cx="2861368" cy="1371600"/>
          </a:xfrm>
          <a:prstGeom prst="rect">
            <a:avLst/>
          </a:prstGeom>
          <a:solidFill>
            <a:srgbClr val="ECD9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634" tIns="143674" rIns="204634" bIns="143674" numCol="1" spcCol="1270" anchor="ctr" anchorCtr="0">
            <a:noAutofit/>
          </a:bodyPr>
          <a:lstStyle/>
          <a:p>
            <a:pPr lvl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(1)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การจัดการทรัพย์สินของบริษัท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4752" y="3000895"/>
            <a:ext cx="5086878" cy="137160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ใช้ทรัพย์สินของบริษัทในเรื่องส่วนตัว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และห้ามนำทรัพย์สินออกจากบริเวณที่บริษัทกำหนด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ไว้ ยกเว้นกรณีที่มีกฎระเบียบบริษัทกำหนดไว้เป็นอย่างอื่น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 พนักงานพ้นตำแหน่งหรือลาออก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ต้องคืนทรัพย์สินทั้งหมดที่ตนดูแลรับผิดชอบอยู่ให้กับบริษัท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385" y="3000895"/>
            <a:ext cx="2861368" cy="1371600"/>
          </a:xfrm>
          <a:prstGeom prst="rect">
            <a:avLst/>
          </a:prstGeom>
          <a:solidFill>
            <a:srgbClr val="ECD9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634" tIns="143674" rIns="204634" bIns="143674" numCol="1" spcCol="1270" anchor="ctr" anchorCtr="0">
            <a:noAutofit/>
          </a:bodyPr>
          <a:lstStyle/>
          <a:p>
            <a:pPr lvl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(2)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ห้ามใช้ทรัพย์สินไปในทางทุจริต</a:t>
            </a:r>
            <a:r>
              <a:rPr lang="en-US" altLang="ja-JP" sz="32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4752" y="4780024"/>
            <a:ext cx="5086878" cy="155448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พนักงานในบริษัทแคนนอนมีหน้าที่ต้อง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ดูแลทรัพย์สินทางปัญญา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ที่บริษัทได้มาภายใต้ข้อกำหนดตามกฎหมายหรือกฎของบริษัทอย่างเข้มงวด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ต้องกระทำการอย่างระมัดระวัง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และเคารพในการประดิษฐ์คิดค้น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และงานลิขสิทธ์ต่างๆ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3385" y="4780024"/>
            <a:ext cx="2861368" cy="1554480"/>
          </a:xfrm>
          <a:prstGeom prst="rect">
            <a:avLst/>
          </a:prstGeom>
          <a:solidFill>
            <a:srgbClr val="ECD9FF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434" tIns="82714" rIns="82714" bIns="82714" numCol="1" spcCol="1270" anchor="ctr" anchorCtr="0">
            <a:noAutofit/>
          </a:bodyPr>
          <a:lstStyle/>
          <a:p>
            <a:pPr lvl="0" algn="l" defTabSz="1422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32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(3)</a:t>
            </a:r>
            <a:r>
              <a:rPr lang="th-TH" altLang="ja-JP" sz="32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การคุ้มครองทรัพย์สินทางปัญญา</a:t>
            </a:r>
            <a:endParaRPr lang="en-US" sz="32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45675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pPr lvl="0" algn="ctr"/>
            <a:r>
              <a:rPr lang="th-TH" altLang="ja-JP" sz="4400" b="1" dirty="0">
                <a:solidFill>
                  <a:schemeClr val="accent2">
                    <a:lumMod val="50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3.</a:t>
            </a:r>
            <a:r>
              <a:rPr lang="en-US" altLang="ja-JP" sz="4400" b="1" dirty="0">
                <a:solidFill>
                  <a:schemeClr val="accent2">
                    <a:lumMod val="50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th-TH" altLang="ja-JP" sz="4400" b="1" dirty="0">
                <a:solidFill>
                  <a:schemeClr val="accent2">
                    <a:lumMod val="50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การจัดการข้อมูล ข่าวสาร</a:t>
            </a:r>
            <a:endParaRPr lang="th-TH" altLang="ja-JP" sz="4400" b="1" dirty="0">
              <a:solidFill>
                <a:schemeClr val="accent2">
                  <a:lumMod val="50000"/>
                </a:schemeClr>
              </a:solidFill>
              <a:latin typeface="PSL ThaiAntique" panose="02020603050405020304" pitchFamily="18" charset="-34"/>
              <a:ea typeface="MS PGothic" pitchFamily="34" charset="-128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8569-FB47-43C5-AEE7-2B446658A5E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64753" y="1145411"/>
            <a:ext cx="5086877" cy="105156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41166" rIns="41166" bIns="41168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พนักงานในบริษัทแคนนอนต้อง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ควบคุมดูแลข้อมูลที่เป็นความลับ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ข้อมูลที่เป็นสิทธิของบริษัท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หรือข้อมูลที่ไม่เปิดเผยต่อสาธารณะ รวมถึงข้อมูลส่วนตัวอย่างเข้มงวด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3385" y="1145411"/>
            <a:ext cx="2861368" cy="1054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139" tIns="104799" rIns="158139" bIns="104799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(1)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การควบคุมดูแลข้อมูลตามกฎระเบียบ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4753" y="2260747"/>
            <a:ext cx="5086877" cy="105156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41166" rIns="41166" bIns="41168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u="sng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เปิดเผยข้อมูลที่เป็นความลับ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ข้อมูลที่เป็นสิทธิของบริษัท หรือ ข้อมูลที่ไม่เปิดเผยต่อสาธารณะ ถึงแม้จะพ้นจากการทำงานให้กับบริษัทไปแล้ว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ก็ห้ามเปิดเผย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385" y="2260747"/>
            <a:ext cx="2861368" cy="1054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8139" tIns="104799" rIns="158139" bIns="104799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(2)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ห้ามใช้ข้อมูลเพื่อประโยชน์ส่วนตัว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4753" y="3376083"/>
            <a:ext cx="5086877" cy="105156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41167" rIns="41166" bIns="4116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u="sng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ทำการซื้อขายหุ้นของบริษัท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ตน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หรือของบริษัทในเครือ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หรือของบริษัทอื่นที่ทำธุรกิจกับบริษัทตนโดยอาศัยข้อมูลภายในที่ยังไม่มีการเปิดเผยต่อสาธารณะ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3385" y="3376083"/>
            <a:ext cx="2861368" cy="1054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7179" tIns="51459" rIns="51459" bIns="51459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8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(3)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ห้ามทำการใช้ข้อมูลภายในในการซื้อขายหุ้น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64753" y="4491419"/>
            <a:ext cx="5086877" cy="105156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41167" rIns="41166" bIns="4116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u="sng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ใช้วิธีการอันไม่เหมาะสมหรือผิดกฎหมาย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เพื่อให้ได้มาซึ่งข้อมูลที่เกี่ยวกับบริษัทอื่น 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3385" y="4491419"/>
            <a:ext cx="2861368" cy="10541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7179" tIns="51459" rIns="51459" bIns="51459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(4)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ห้ามรับข้อมูลเกี่ยวกับบริษัทอื่นด้วยวิธีการทุจริต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64753" y="5606756"/>
            <a:ext cx="5086877" cy="100584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41167" rIns="41166" bIns="41167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พนักงานในบริษัทแคนนอนต้อง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รักษาข้อมูล ที่เป็นความลับของบริษัทอื่นที่เปิดเผยให้กับบริษัทตนตามกฎ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ของแต่ละบริษัทในกลุ่มแคนนอนและตามสัญญาที่ได้ให้ไว้กับบริษัทนั้น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 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3385" y="5606756"/>
            <a:ext cx="2861368" cy="1005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7179" tIns="51459" rIns="51459" bIns="51459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(5)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การรักษาข้อมูลของบริษัทอื่นอย่างเหมาะสม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21775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031" y="168759"/>
            <a:ext cx="8229600" cy="1149901"/>
          </a:xfrm>
        </p:spPr>
        <p:txBody>
          <a:bodyPr>
            <a:noAutofit/>
          </a:bodyPr>
          <a:lstStyle/>
          <a:p>
            <a:pPr marL="514350" indent="-514350"/>
            <a:r>
              <a:rPr lang="th-TH" altLang="ja-JP" sz="3600" b="1" dirty="0">
                <a:solidFill>
                  <a:srgbClr val="00B05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4.</a:t>
            </a:r>
            <a:r>
              <a:rPr lang="en-US" altLang="ja-JP" sz="3600" b="1" dirty="0">
                <a:solidFill>
                  <a:srgbClr val="00B05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th-TH" altLang="ja-JP" sz="3600" b="1" dirty="0">
                <a:solidFill>
                  <a:srgbClr val="00B05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ความขัดแย้งทางผลประโยชน์</a:t>
            </a:r>
            <a:r>
              <a:rPr lang="en-US" altLang="ja-JP" sz="3600" b="1" dirty="0">
                <a:solidFill>
                  <a:srgbClr val="00B050"/>
                </a:solidFill>
                <a:latin typeface="PSL ThaiAntique" panose="02020603050405020304" pitchFamily="18" charset="-34"/>
                <a:ea typeface="MS PGothic" pitchFamily="34" charset="-128"/>
                <a:cs typeface="PSL ThaiAntique" panose="02020603050405020304" pitchFamily="18" charset="-34"/>
              </a:rPr>
              <a:t>/</a:t>
            </a:r>
            <a:r>
              <a:rPr lang="th-TH" altLang="ja-JP" sz="3600" b="1" dirty="0">
                <a:solidFill>
                  <a:srgbClr val="00B050"/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การแบ่งแยกระหว่างเรื่องของบริษัทและเรื่องส่วนตัว</a:t>
            </a:r>
            <a:endParaRPr lang="th-TH" altLang="ja-JP" sz="3600" b="1" dirty="0">
              <a:solidFill>
                <a:srgbClr val="00B050"/>
              </a:solidFill>
              <a:latin typeface="PSL ThaiAntique" panose="02020603050405020304" pitchFamily="18" charset="-34"/>
              <a:ea typeface="MS PGothic" pitchFamily="34" charset="-128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8569-FB47-43C5-AEE7-2B446658A5E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64752" y="1381582"/>
            <a:ext cx="5120640" cy="146304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1" rIns="66171" bIns="66172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พนักงานในบริษัทแคนนอนต้อง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เข้าใจบทบาทหน้าที่การทำงานของตน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ทำงานตามหน้าที่ด้วยความ</a:t>
            </a:r>
            <a:r>
              <a:rPr lang="th-TH" altLang="ja-JP" sz="2000" b="1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ซื่อสัตย์สุจริต</a:t>
            </a:r>
            <a:r>
              <a:rPr lang="en-US" altLang="ja-JP" sz="2000" b="1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จึงห้ามพนักงานทุกคนมีผลประโยชน์ส่วนตัวในเรื่องการทำธุรกิจร่วมกับบริษัทคู่ค้า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บริษัทที่ไปลงทุนและคู่เจรจาสัญญาของบริษัทที่ตนเองสังกัดอยู่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เป็นต้น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03385" y="1385394"/>
            <a:ext cx="2861368" cy="1463040"/>
          </a:xfrm>
          <a:custGeom>
            <a:avLst/>
            <a:gdLst>
              <a:gd name="connsiteX0" fmla="*/ 0 w 2861368"/>
              <a:gd name="connsiteY0" fmla="*/ 0 h 1694408"/>
              <a:gd name="connsiteX1" fmla="*/ 2861368 w 2861368"/>
              <a:gd name="connsiteY1" fmla="*/ 0 h 1694408"/>
              <a:gd name="connsiteX2" fmla="*/ 2861368 w 2861368"/>
              <a:gd name="connsiteY2" fmla="*/ 1694408 h 1694408"/>
              <a:gd name="connsiteX3" fmla="*/ 0 w 2861368"/>
              <a:gd name="connsiteY3" fmla="*/ 1694408 h 1694408"/>
              <a:gd name="connsiteX4" fmla="*/ 0 w 2861368"/>
              <a:gd name="connsiteY4" fmla="*/ 0 h 169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1368" h="1694408">
                <a:moveTo>
                  <a:pt x="0" y="0"/>
                </a:moveTo>
                <a:lnTo>
                  <a:pt x="2861368" y="0"/>
                </a:lnTo>
                <a:lnTo>
                  <a:pt x="2861368" y="1694408"/>
                </a:lnTo>
                <a:lnTo>
                  <a:pt x="0" y="16944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53340" rIns="106680" bIns="53340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(1)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การหลีกเลี่ยงการขัดแย้งกันทางผลประโยชน์ 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4752" y="2977828"/>
            <a:ext cx="5086878" cy="182880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u="sng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เรียกร้อง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หรือรับผลประโยชน์ต่างๆ</a:t>
            </a:r>
            <a:r>
              <a:rPr lang="en-US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เกินขอบเขตที่สมควรของสังคม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ของขวัญ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การเลี้ยง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หรือผลประโยชน์อื่นๆ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จากบริษัทคู่ค้า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ลูกค้าของบริษัท รวมถึงคำสัญญาว่าจะมีผลประโยชน์ใดๆ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ให้ในอนาคต อีกทั้งห้ามพนักงานให้ผลประโยชน์ต่างๆ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ดังที่ได้กล่าวมากับทางราชการ บริษัทคู่ค้าหรือลูกค้าของบริษัทเช่นเดียวกัน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03385" y="2981642"/>
            <a:ext cx="2861368" cy="1819176"/>
          </a:xfrm>
          <a:custGeom>
            <a:avLst/>
            <a:gdLst>
              <a:gd name="connsiteX0" fmla="*/ 0 w 2861368"/>
              <a:gd name="connsiteY0" fmla="*/ 0 h 1694408"/>
              <a:gd name="connsiteX1" fmla="*/ 2861368 w 2861368"/>
              <a:gd name="connsiteY1" fmla="*/ 0 h 1694408"/>
              <a:gd name="connsiteX2" fmla="*/ 2861368 w 2861368"/>
              <a:gd name="connsiteY2" fmla="*/ 1694408 h 1694408"/>
              <a:gd name="connsiteX3" fmla="*/ 0 w 2861368"/>
              <a:gd name="connsiteY3" fmla="*/ 1694408 h 1694408"/>
              <a:gd name="connsiteX4" fmla="*/ 0 w 2861368"/>
              <a:gd name="connsiteY4" fmla="*/ 0 h 169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1368" h="1694408">
                <a:moveTo>
                  <a:pt x="0" y="0"/>
                </a:moveTo>
                <a:lnTo>
                  <a:pt x="2861368" y="0"/>
                </a:lnTo>
                <a:lnTo>
                  <a:pt x="2861368" y="1694408"/>
                </a:lnTo>
                <a:lnTo>
                  <a:pt x="0" y="16944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53340" rIns="106680" bIns="53340" numCol="1" spcCol="1270" anchor="ctr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(2)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ห้ามการเรียกร้อง</a:t>
            </a:r>
            <a:r>
              <a:rPr lang="en-US" altLang="ja-JP" sz="28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รับ</a:t>
            </a:r>
            <a:r>
              <a:rPr lang="en-US" altLang="ja-JP" sz="28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หรือเสนอซึ่งของขวัญ</a:t>
            </a:r>
            <a:r>
              <a:rPr lang="en-US" altLang="ja-JP" sz="28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การเลี้ยง</a:t>
            </a:r>
            <a:r>
              <a:rPr lang="en-US" altLang="ja-JP" sz="2800" b="1" kern="1200" dirty="0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 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หรือผลประโยชน์อื่นๆ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4752" y="4939838"/>
            <a:ext cx="5086878" cy="146304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6172" rIns="66171" bIns="66171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0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ต้องไม่ใช้ตำแหน่งหน้าที่การงานของตนในบริษัท เพื่อรับหุ้นที่ยังไม่ได้เปิดเผย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ต่อสาธารณะ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ไม่ว่าจากบริษัทคู่ค้า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บริษัทที่ไปลงทุนหรือคู่เจรจาสัญญาของบริษัทที่ตนเองสังกัดอยู่</a:t>
            </a:r>
            <a:r>
              <a:rPr lang="en-US" altLang="ja-JP" sz="20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0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เป็นต้น</a:t>
            </a:r>
            <a:endParaRPr lang="en-US" sz="20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703385" y="4934024"/>
            <a:ext cx="2861368" cy="1463040"/>
          </a:xfrm>
          <a:custGeom>
            <a:avLst/>
            <a:gdLst>
              <a:gd name="connsiteX0" fmla="*/ 0 w 2861368"/>
              <a:gd name="connsiteY0" fmla="*/ 0 h 1694408"/>
              <a:gd name="connsiteX1" fmla="*/ 2861368 w 2861368"/>
              <a:gd name="connsiteY1" fmla="*/ 0 h 1694408"/>
              <a:gd name="connsiteX2" fmla="*/ 2861368 w 2861368"/>
              <a:gd name="connsiteY2" fmla="*/ 1694408 h 1694408"/>
              <a:gd name="connsiteX3" fmla="*/ 0 w 2861368"/>
              <a:gd name="connsiteY3" fmla="*/ 1694408 h 1694408"/>
              <a:gd name="connsiteX4" fmla="*/ 0 w 2861368"/>
              <a:gd name="connsiteY4" fmla="*/ 0 h 169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1368" h="1694408">
                <a:moveTo>
                  <a:pt x="0" y="0"/>
                </a:moveTo>
                <a:lnTo>
                  <a:pt x="2861368" y="0"/>
                </a:lnTo>
                <a:lnTo>
                  <a:pt x="2861368" y="1694408"/>
                </a:lnTo>
                <a:lnTo>
                  <a:pt x="0" y="16944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0" tIns="0" rIns="0" bIns="0" numCol="1" spcCol="1270" anchor="ctr" anchorCtr="0">
            <a:noAutofit/>
          </a:bodyPr>
          <a:lstStyle/>
          <a:p>
            <a:pPr lvl="0" algn="l" defTabSz="12446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8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(3)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ห้ามรับหุ้นที่ยังไม่ได้เปิดเผยต่อสาธารณะ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2944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b="1" dirty="0">
                <a:solidFill>
                  <a:schemeClr val="accent1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5</a:t>
            </a:r>
            <a:r>
              <a:rPr lang="th-TH" altLang="ja-JP" b="1" dirty="0">
                <a:solidFill>
                  <a:schemeClr val="accent1">
                    <a:lumMod val="75000"/>
                  </a:schemeClr>
                </a:solidFill>
                <a:latin typeface="PSL ThaiAntique" panose="02020603050405020304" pitchFamily="18" charset="-34"/>
                <a:cs typeface="PSL ThaiAntique" panose="02020603050405020304" pitchFamily="18" charset="-34"/>
              </a:rPr>
              <a:t>. การรักษาและยกระดับสภาพแวดล้อมในสถานที่ทำงาน</a:t>
            </a:r>
            <a:endParaRPr lang="th-TH" altLang="ja-JP" b="1" dirty="0">
              <a:solidFill>
                <a:schemeClr val="accent1">
                  <a:lumMod val="75000"/>
                </a:schemeClr>
              </a:solidFill>
              <a:latin typeface="PSL ThaiAntique" panose="02020603050405020304" pitchFamily="18" charset="-34"/>
              <a:ea typeface="MS PGothic" pitchFamily="34" charset="-128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8569-FB47-43C5-AEE7-2B446658A5E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64753" y="1104619"/>
            <a:ext cx="5086878" cy="1463040"/>
          </a:xfrm>
          <a:prstGeom prst="rect">
            <a:avLst/>
          </a:prstGeom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5068" rIns="65068" bIns="6506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ต้องมีความเคารพซึ่งกันและกันห้ามมีการเลือกปฏิบัติ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โดยอ้างเชื้อชาติ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ศาสนา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สัญชาติ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เพศ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 อายุ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หรือการแบ่งแยกด้วยวิธีการอื่นใดที่ไม่เหมาะสม</a:t>
            </a:r>
            <a:endParaRPr lang="en-US" sz="24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3385" y="1104619"/>
            <a:ext cx="2861368" cy="1463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016" tIns="134676" rIns="188016" bIns="134676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(1)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เคารพในตัวบุคคลและห้ามมีการเลือกปฏิบัติ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61958" y="2658670"/>
            <a:ext cx="5081910" cy="1645920"/>
          </a:xfrm>
          <a:prstGeom prst="rect">
            <a:avLst/>
          </a:prstGeom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85628" rIns="85628" bIns="8562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เพื่อรักษาสถานที่ทำงานให้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ปลอดภัยและน่าทำงาน</a:t>
            </a:r>
            <a:r>
              <a:rPr lang="en-US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พนักงานจะต้อง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ไม่มีพฤติกรรมที่ใช้ความรุนแรงบังคับข่มขู่</a:t>
            </a:r>
            <a:r>
              <a:rPr lang="en-US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ล่วงเกินทางเพศ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ให้ร้ายดูหมิ่น หรือมีพฤติกรรมที่ไม่เหมาะสมอื่นๆ</a:t>
            </a:r>
            <a:endParaRPr lang="en-US" sz="2400" kern="1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3385" y="2655998"/>
            <a:ext cx="2858574" cy="1645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016" tIns="134676" rIns="188016" bIns="134676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(2)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ห้ามมีการล่วงเกินทางเพศ 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564753" y="4432801"/>
            <a:ext cx="5086878" cy="1213087"/>
          </a:xfrm>
          <a:custGeom>
            <a:avLst/>
            <a:gdLst>
              <a:gd name="connsiteX0" fmla="*/ 222160 w 1332934"/>
              <a:gd name="connsiteY0" fmla="*/ 0 h 5086877"/>
              <a:gd name="connsiteX1" fmla="*/ 1110774 w 1332934"/>
              <a:gd name="connsiteY1" fmla="*/ 0 h 5086877"/>
              <a:gd name="connsiteX2" fmla="*/ 1332934 w 1332934"/>
              <a:gd name="connsiteY2" fmla="*/ 222160 h 5086877"/>
              <a:gd name="connsiteX3" fmla="*/ 1332934 w 1332934"/>
              <a:gd name="connsiteY3" fmla="*/ 5086877 h 5086877"/>
              <a:gd name="connsiteX4" fmla="*/ 1332934 w 1332934"/>
              <a:gd name="connsiteY4" fmla="*/ 5086877 h 5086877"/>
              <a:gd name="connsiteX5" fmla="*/ 0 w 1332934"/>
              <a:gd name="connsiteY5" fmla="*/ 5086877 h 5086877"/>
              <a:gd name="connsiteX6" fmla="*/ 0 w 1332934"/>
              <a:gd name="connsiteY6" fmla="*/ 5086877 h 5086877"/>
              <a:gd name="connsiteX7" fmla="*/ 0 w 1332934"/>
              <a:gd name="connsiteY7" fmla="*/ 222160 h 5086877"/>
              <a:gd name="connsiteX8" fmla="*/ 222160 w 1332934"/>
              <a:gd name="connsiteY8" fmla="*/ 0 h 5086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2934" h="5086877">
                <a:moveTo>
                  <a:pt x="1332934" y="847831"/>
                </a:moveTo>
                <a:lnTo>
                  <a:pt x="1332934" y="4239046"/>
                </a:lnTo>
                <a:cubicBezTo>
                  <a:pt x="1332934" y="4707291"/>
                  <a:pt x="1306871" y="5086875"/>
                  <a:pt x="1274720" y="5086875"/>
                </a:cubicBezTo>
                <a:lnTo>
                  <a:pt x="0" y="5086875"/>
                </a:lnTo>
                <a:lnTo>
                  <a:pt x="0" y="5086875"/>
                </a:lnTo>
                <a:lnTo>
                  <a:pt x="0" y="2"/>
                </a:lnTo>
                <a:lnTo>
                  <a:pt x="0" y="2"/>
                </a:lnTo>
                <a:lnTo>
                  <a:pt x="1274720" y="2"/>
                </a:lnTo>
                <a:cubicBezTo>
                  <a:pt x="1306871" y="2"/>
                  <a:pt x="1332934" y="379586"/>
                  <a:pt x="1332934" y="847831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5721" tIns="65068" rIns="65068" bIns="65069" numCol="1" spcCol="1270" anchor="ctr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th-TH" altLang="ja-JP" sz="2400" u="sng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ห้าม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พนักงานในบริษัทแคนนอน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พกพาปืน</a:t>
            </a:r>
            <a:r>
              <a:rPr lang="en-US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มีด</a:t>
            </a:r>
            <a:r>
              <a:rPr lang="en-US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ระเบิด</a:t>
            </a:r>
            <a:r>
              <a:rPr lang="en-US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และอาวุธ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อื่นๆ</a:t>
            </a:r>
            <a:r>
              <a:rPr lang="en-US" altLang="ja-JP" sz="2400" kern="1200" dirty="0">
                <a:latin typeface="AngsanaUPC" panose="02020603050405020304" pitchFamily="18" charset="-34"/>
                <a:ea typeface="MS PGothic" pitchFamily="34" charset="-128"/>
                <a:cs typeface="AngsanaUPC" panose="02020603050405020304" pitchFamily="18" charset="-34"/>
              </a:rPr>
              <a:t> </a:t>
            </a:r>
            <a:r>
              <a:rPr lang="th-TH" altLang="ja-JP" sz="2400" kern="1200" dirty="0">
                <a:latin typeface="AngsanaUPC" panose="02020603050405020304" pitchFamily="18" charset="-34"/>
                <a:cs typeface="AngsanaUPC" panose="02020603050405020304" pitchFamily="18" charset="-34"/>
              </a:rPr>
              <a:t>รวมถึง</a:t>
            </a:r>
            <a:r>
              <a:rPr lang="th-TH" altLang="ja-JP" sz="2400" kern="1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ยาเสพติดที่ผิดกฎหมายเข้ามาในที่ทำงาน</a:t>
            </a:r>
            <a:endParaRPr lang="en-US" sz="2400" kern="1200" dirty="0">
              <a:solidFill>
                <a:srgbClr val="FF000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3385" y="4432801"/>
            <a:ext cx="2861368" cy="12130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56" tIns="81336" rIns="81336" bIns="81336" numCol="1" spcCol="1270" anchor="ctr" anchorCtr="0">
            <a:noAutofit/>
          </a:bodyPr>
          <a:lstStyle/>
          <a:p>
            <a:pPr lvl="0" defTabSz="12446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800" b="1" kern="1200" noProof="1">
                <a:latin typeface="PSL Methinee" panose="02020603050405020304" pitchFamily="18" charset="-34"/>
                <a:ea typeface="MS PGothic" pitchFamily="34" charset="-128"/>
                <a:cs typeface="PSL Methinee" panose="02020603050405020304" pitchFamily="18" charset="-34"/>
              </a:rPr>
              <a:t>(3)</a:t>
            </a:r>
            <a:r>
              <a:rPr lang="th-TH" altLang="ja-JP" sz="2800" b="1" kern="12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ห้ามพกพาอาวุธและยาเสพติดเข้ามาในบริษัท</a:t>
            </a:r>
            <a:endParaRPr lang="en-US" sz="2800" kern="12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3299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oper Black" panose="0208090404030B020404" pitchFamily="18" charset="0"/>
              </a:rPr>
              <a:t>Power Harassment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0" y="0"/>
            <a:ext cx="1925916" cy="15098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05" y="55162"/>
            <a:ext cx="1870664" cy="14318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6567" y="1690689"/>
            <a:ext cx="8516679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600" b="1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การข่มเหงรังแกกัน</a:t>
            </a:r>
            <a:r>
              <a:rPr lang="th-TH" sz="2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ในที่ทำงาน   </a:t>
            </a:r>
            <a:r>
              <a:rPr lang="th-TH" sz="2600" dirty="0">
                <a:solidFill>
                  <a:srgbClr val="0F2C55"/>
                </a:solidFill>
                <a:latin typeface="PSL Methinee" panose="02020603050405020304" pitchFamily="18" charset="-34"/>
                <a:cs typeface="PSL Methinee" panose="02020603050405020304" pitchFamily="18" charset="-34"/>
                <a:hlinkClick r:id="rId4"/>
              </a:rPr>
              <a:t>กฎหมาย</a:t>
            </a:r>
            <a:r>
              <a:rPr lang="th-TH" sz="2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มีการปกป้องผู้ถูกกระทำ โดยผู้ถูกกระทำสามารถแจ้งความเอาผิดกับคนที่มาแกล้งถือว่าเป็นความผิด</a:t>
            </a:r>
            <a:r>
              <a:rPr lang="th-TH" sz="2600" b="1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อาญา ตามมาตรา 397</a:t>
            </a:r>
            <a:r>
              <a:rPr lang="th-TH" sz="2600" dirty="0">
                <a:latin typeface="PSL Methinee" panose="02020603050405020304" pitchFamily="18" charset="-34"/>
                <a:cs typeface="PSL Methinee" panose="02020603050405020304" pitchFamily="18" charset="-34"/>
              </a:rPr>
              <a:t>  ซึ่งบัญญัติว่า </a:t>
            </a:r>
            <a:endParaRPr lang="en-US" sz="2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endParaRPr lang="en-US" sz="1600" dirty="0">
              <a:solidFill>
                <a:srgbClr val="D131FD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“ผู้ใดกระทำด้วยประการใด ๆ ต่อผู้อื่น อันเป็นการ</a:t>
            </a:r>
            <a:r>
              <a:rPr lang="th-TH" sz="2600" b="1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รังแก ข่มเหง คุกคาม </a:t>
            </a:r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หรือกระทำการให้ได้รับความ</a:t>
            </a:r>
            <a:r>
              <a:rPr lang="th-TH" sz="2600" b="1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อับอาย </a:t>
            </a:r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หรือ</a:t>
            </a:r>
            <a:r>
              <a:rPr lang="th-TH" sz="2600" b="1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เดือดร้อนรำคาญ </a:t>
            </a:r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ต้องระวางโทษปรับไม่เกิน 5,000 บาท ถ้าการกระทำความผิดตามวรรคหนึ่ง เป็นการกระทำในที่สาธารณสถาน หรือต่อหน้าธารกำนัล หรือเป็นการทำในลักษณะ</a:t>
            </a:r>
            <a:r>
              <a:rPr lang="th-TH" sz="2600" b="1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ส่อไปในทางล่วงเกินทางเพศ </a:t>
            </a:r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ต้องระวางโทษจำคุกไม่เกินหนึ่งเดือน หรือปรับไม่เกินหนึ่ง 10,000 บาท หรือทั้งจำทั้งปรับ </a:t>
            </a:r>
            <a:endParaRPr lang="en-US" sz="2600" dirty="0">
              <a:solidFill>
                <a:srgbClr val="D131FD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endParaRPr lang="en-US" sz="2600" dirty="0">
              <a:solidFill>
                <a:srgbClr val="D131FD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ถ้าการกระทำความผิดตามวรรคสอง เป็นการกระทำโดยเหตุที่</a:t>
            </a:r>
            <a:r>
              <a:rPr lang="th-TH" sz="2600" u="sng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ผู้กระทำมีอำนาจเหนือผู้ถูกกระทำ </a:t>
            </a:r>
            <a:r>
              <a:rPr lang="th-TH" sz="2600" dirty="0">
                <a:solidFill>
                  <a:srgbClr val="D131FD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อันเนื่องมาจากความสัมพันธ์ในฐานะที่เป็นผู้บังคับบัญชา นายจ้าง หรือผู้มีอำนาจเหนือประการอื่น ต้องระวางโทษจำคุกไม่เกินหนึ่งเดือน และปรับไม่เกิน 10,000 บาท” </a:t>
            </a:r>
            <a:endParaRPr lang="en-US" sz="2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08802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80" y="99313"/>
            <a:ext cx="7886700" cy="1325563"/>
          </a:xfrm>
        </p:spPr>
        <p:txBody>
          <a:bodyPr>
            <a:normAutofit/>
          </a:bodyPr>
          <a:lstStyle/>
          <a:p>
            <a:r>
              <a:rPr lang="th-TH" sz="4400" dirty="0">
                <a:solidFill>
                  <a:srgbClr val="00206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ตัวอย่าง 10 พฤติกรรมเสี่ยงผิดอาญา</a:t>
            </a:r>
            <a:endParaRPr lang="en-US" sz="4400" dirty="0">
              <a:solidFill>
                <a:srgbClr val="00206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25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5877" y="1350445"/>
            <a:ext cx="8525983" cy="4847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9725" indent="-339725"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ได้รับมอบหมายงานที่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ไม่สามารถทำได้ หรือให้ทำงานนอก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ขอบเขตรายละเอียดของงาน (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Job Description)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เพื่อกลั่นแกล้งให้ทำงานผิดพลาด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ได้รับความกดดัน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ที่มากเกินไปในการทำงาน ทำให้เกิดความเครียดจนมีผลกระทบต่อการใช้ชีวิตประจำวัน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การ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ถูกเมินเฉยต่อผลงาน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ถูกดุด่าว่ากล่าว อย่างรุนแรงต่อหน้าคนในออฟฟิศ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เมื่อทำงานผิดเพียงเล็กน้อย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ถูก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สอบถามเรื่องส่วนตัวมาก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เกินความจำเป็น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ได้รับ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มอบหมายงานที่ไม่มีคุณค่า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หรือไม่จำเป็น เพราะต้องการจะกลั่นแกล้ง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ถูกข่มขู่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ว่าถ้าไม่ทำงานที่ได้รับมอบหมาย จะถูกลดเงินเดือน หรือลดผลประโยชน์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โดนบังคับให้ไปเที่ยว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ดื่มเหล้าหลังเลิกงาน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โดยที่ไม่เต็มใจ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เมื่อทำความผิด ถูกหัวหน้า หรือคนในที่ทำงาน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เอาไปเล่าต่อให้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คนอื่นฟังลับหลัง เพื่อทำให้เสื่อมเสีย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 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ถูกประเมินผล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การทำงานอย่าง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ไม่เป็นธรรม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ไม่ถูกต้อง</a:t>
            </a:r>
          </a:p>
          <a:p>
            <a:pPr marL="287338" indent="-287338">
              <a:spcBef>
                <a:spcPts val="600"/>
              </a:spcBef>
              <a:buFont typeface="+mj-lt"/>
              <a:buAutoNum type="arabicPeriod"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  ถูกนำความลับส่วนตัว เรื่องที่ไม่อยากให้ใครรู้ </a:t>
            </a:r>
            <a:r>
              <a:rPr lang="th-TH" sz="2200" dirty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ไปเปิดเผยต่อเพื่อนร่วมงาน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และคนในออฟฟิศ เพื่อสร้าง ความอับอาย เช่น เรื่องในครอบครัว สามีมีเมียน้อย หรือเป็นโรคประจำตัวที่สังคมรังเกียจ เป็นต้น</a:t>
            </a:r>
            <a:endParaRPr lang="th-TH" sz="2200" b="0" dirty="0">
              <a:effectLst/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280919"/>
            <a:ext cx="877186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https://th.jobsdb.com/th-th/articles/10-%E0%B8%9E%E0%B8%A4%E0%B8%95%E0%B8%B4%E0%B8%81%E0%B8%A3%E0%B8%A3%E0%B8%A1%E0%B9%80%E0%B8%AA%E0%B8%B5%E0%B9%88%E0%B8%A2%E0%B8%87%E0%B8%9C%E0%B8%B4%E0%B8%94%E0%B8%AD%E0%B8%B2%E0%B8%8D%E0%B8%B2/</a:t>
            </a:r>
          </a:p>
        </p:txBody>
      </p:sp>
    </p:spTree>
    <p:extLst>
      <p:ext uri="{BB962C8B-B14F-4D97-AF65-F5344CB8AC3E}">
        <p14:creationId xmlns:p14="http://schemas.microsoft.com/office/powerpoint/2010/main" val="2746834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078" y="187326"/>
            <a:ext cx="7886700" cy="93874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Check Point !!!</a:t>
            </a:r>
          </a:p>
        </p:txBody>
      </p:sp>
      <p:sp>
        <p:nvSpPr>
          <p:cNvPr id="491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DBFFDE-85A4-49D7-8CCB-B398275B00C6}" type="slidenum">
              <a:rPr lang="en-US" smtClean="0"/>
              <a:pPr/>
              <a:t>26</a:t>
            </a:fld>
            <a:endParaRPr lang="ja-JP" altLang="th-TH">
              <a:ea typeface="MS PGothic" pitchFamily="34" charset="-128"/>
            </a:endParaRPr>
          </a:p>
        </p:txBody>
      </p:sp>
      <p:pic>
        <p:nvPicPr>
          <p:cNvPr id="49155" name="Picture 3" descr="บัตร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5610" y="1312545"/>
            <a:ext cx="32734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9156" name="Group 4"/>
          <p:cNvGrpSpPr>
            <a:grpSpLocks/>
          </p:cNvGrpSpPr>
          <p:nvPr/>
        </p:nvGrpSpPr>
        <p:grpSpPr bwMode="auto">
          <a:xfrm>
            <a:off x="1330855" y="1352023"/>
            <a:ext cx="3275012" cy="4824413"/>
            <a:chOff x="526" y="774"/>
            <a:chExt cx="2367" cy="3397"/>
          </a:xfrm>
        </p:grpSpPr>
        <p:pic>
          <p:nvPicPr>
            <p:cNvPr id="49158" name="Picture 5"/>
            <p:cNvPicPr>
              <a:picLocks noChangeAspect="1" noChangeArrowheads="1"/>
            </p:cNvPicPr>
            <p:nvPr/>
          </p:nvPicPr>
          <p:blipFill>
            <a:blip r:embed="rId4"/>
            <a:srcRect l="1959" r="2940"/>
            <a:stretch>
              <a:fillRect/>
            </a:stretch>
          </p:blipFill>
          <p:spPr bwMode="auto">
            <a:xfrm>
              <a:off x="542" y="778"/>
              <a:ext cx="2329" cy="339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49159" name="AutoShape 6"/>
            <p:cNvSpPr>
              <a:spLocks noChangeArrowheads="1"/>
            </p:cNvSpPr>
            <p:nvPr/>
          </p:nvSpPr>
          <p:spPr bwMode="auto">
            <a:xfrm rot="-5400000">
              <a:off x="17" y="1283"/>
              <a:ext cx="3385" cy="2367"/>
            </a:xfrm>
            <a:prstGeom prst="roundRect">
              <a:avLst>
                <a:gd name="adj" fmla="val 2829"/>
              </a:avLst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</p:spPr>
          <p:txBody>
            <a:bodyPr vert="eaVert" lIns="92605" tIns="46302" rIns="92605" bIns="46302"/>
            <a:lstStyle/>
            <a:p>
              <a:pPr defTabSz="920750" eaLnBrk="0" hangingPunct="0"/>
              <a:endParaRPr lang="ja-JP" altLang="th-TH" sz="2900">
                <a:latin typeface="Times New Roman" pitchFamily="18" charset="0"/>
                <a:ea typeface="MS PGothic" pitchFamily="34" charset="-128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0318735"/>
      </p:ext>
    </p:extLst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Canon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04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正方形/長方形 26"/>
          <p:cNvSpPr>
            <a:spLocks noChangeArrowheads="1"/>
          </p:cNvSpPr>
          <p:nvPr/>
        </p:nvSpPr>
        <p:spPr bwMode="auto">
          <a:xfrm>
            <a:off x="381002" y="5245048"/>
            <a:ext cx="8503920" cy="1088170"/>
          </a:xfrm>
          <a:prstGeom prst="rect">
            <a:avLst/>
          </a:prstGeom>
          <a:solidFill>
            <a:srgbClr val="ECACFE"/>
          </a:solidFill>
          <a:ln w="19050" algn="ctr">
            <a:solidFill>
              <a:srgbClr val="ECACFE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 sz="1108">
              <a:latin typeface="Tahoma" pitchFamily="34" charset="0"/>
              <a:cs typeface="Tahoma" pitchFamily="34" charset="0"/>
            </a:endParaRPr>
          </a:p>
        </p:txBody>
      </p:sp>
      <p:sp>
        <p:nvSpPr>
          <p:cNvPr id="84995" name="正方形/長方形 25"/>
          <p:cNvSpPr>
            <a:spLocks noChangeArrowheads="1"/>
          </p:cNvSpPr>
          <p:nvPr/>
        </p:nvSpPr>
        <p:spPr bwMode="auto">
          <a:xfrm>
            <a:off x="381001" y="3646475"/>
            <a:ext cx="8503920" cy="7795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ja-JP" altLang="en-US" sz="1108">
              <a:latin typeface="Tahoma" pitchFamily="34" charset="0"/>
              <a:cs typeface="Tahoma" pitchFamily="34" charset="0"/>
            </a:endParaRPr>
          </a:p>
        </p:txBody>
      </p:sp>
      <p:sp>
        <p:nvSpPr>
          <p:cNvPr id="84996" name="正方形/長方形 24"/>
          <p:cNvSpPr>
            <a:spLocks noChangeArrowheads="1"/>
          </p:cNvSpPr>
          <p:nvPr/>
        </p:nvSpPr>
        <p:spPr bwMode="auto">
          <a:xfrm>
            <a:off x="381002" y="1473192"/>
            <a:ext cx="8503920" cy="1291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ja-JP" altLang="en-US" sz="1108">
              <a:latin typeface="Tahoma" pitchFamily="34" charset="0"/>
              <a:cs typeface="Tahoma" pitchFamily="34" charset="0"/>
            </a:endParaRPr>
          </a:p>
        </p:txBody>
      </p:sp>
      <p:sp>
        <p:nvSpPr>
          <p:cNvPr id="84998" name="Text Box 10"/>
          <p:cNvSpPr txBox="1">
            <a:spLocks noChangeArrowheads="1"/>
          </p:cNvSpPr>
          <p:nvPr/>
        </p:nvSpPr>
        <p:spPr bwMode="auto">
          <a:xfrm>
            <a:off x="2039816" y="1948820"/>
            <a:ext cx="658095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จัดระเบียบสภาพของตัวเอง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　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รายงานหลังจากที่ทำให้ชัดเจนแล้วว่าเป็นเรื่องอะไร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รายงานก่อน (ถ้าโดนถามว่า “เรื่องนั้นไปถึงไหนแล้ว” ถือว่าแพ้)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รายงานจากผลสรุปก่อน (ลำดับคือผลสรุป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เหตุผล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→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สภาพ)</a:t>
            </a:r>
            <a:endParaRPr lang="en-US" altLang="ja-JP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สรุปให้เร็ว โดยเริ่มจากเรื่องที่ไม่ดี, เรื่องที่พูดยาก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999" name="Text Box 11"/>
          <p:cNvSpPr txBox="1">
            <a:spLocks noChangeArrowheads="1"/>
          </p:cNvSpPr>
          <p:nvPr/>
        </p:nvSpPr>
        <p:spPr bwMode="auto">
          <a:xfrm>
            <a:off x="857253" y="1948818"/>
            <a:ext cx="1333500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กฏ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0" name="テキスト ボックス 3"/>
          <p:cNvSpPr>
            <a:spLocks noChangeArrowheads="1"/>
          </p:cNvSpPr>
          <p:nvPr/>
        </p:nvSpPr>
        <p:spPr bwMode="auto">
          <a:xfrm>
            <a:off x="2667000" y="2817372"/>
            <a:ext cx="3403600" cy="385141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h-TH" altLang="ja-JP" sz="1662" dirty="0">
                <a:latin typeface="Tahoma" pitchFamily="34" charset="0"/>
                <a:cs typeface="Tahoma" pitchFamily="34" charset="0"/>
              </a:rPr>
              <a:t>รายงานเสร็จสิ้นแล้วเริ่มทำงาน</a:t>
            </a:r>
            <a:endParaRPr lang="ja-JP" altLang="en-US" sz="1662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1" name="Text Box 13"/>
          <p:cNvSpPr txBox="1">
            <a:spLocks noChangeArrowheads="1"/>
          </p:cNvSpPr>
          <p:nvPr/>
        </p:nvSpPr>
        <p:spPr bwMode="auto">
          <a:xfrm>
            <a:off x="1835696" y="1522653"/>
            <a:ext cx="6912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th-TH" altLang="ja-JP" sz="1200" b="1" dirty="0">
                <a:latin typeface="Tahoma" pitchFamily="34" charset="0"/>
                <a:cs typeface="Tahoma" pitchFamily="34" charset="0"/>
              </a:rPr>
              <a:t>รายงานก่อนล่วงหน้า(ครั้งแรกเป็นสิ่งจำเป็น)/รายงานแบบกลางคัน (แก้ไขข้อมูล)/รายงานภายหลัง </a:t>
            </a:r>
            <a:endParaRPr lang="en-US" altLang="ja-JP" sz="1200" b="1" dirty="0">
              <a:latin typeface="Tahoma" pitchFamily="34" charset="0"/>
              <a:cs typeface="Tahoma" pitchFamily="34" charset="0"/>
            </a:endParaRPr>
          </a:p>
          <a:p>
            <a:r>
              <a:rPr lang="th-TH" altLang="ja-JP" sz="1200" b="1" dirty="0">
                <a:latin typeface="Tahoma" pitchFamily="34" charset="0"/>
                <a:cs typeface="Tahoma" pitchFamily="34" charset="0"/>
              </a:rPr>
              <a:t>(การจบเรื่องคือสิ่งสำคัญ)</a:t>
            </a:r>
            <a:endParaRPr lang="ja-JP" altLang="en-US" sz="1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2" name="Text Box 14"/>
          <p:cNvSpPr txBox="1">
            <a:spLocks noChangeArrowheads="1"/>
          </p:cNvSpPr>
          <p:nvPr/>
        </p:nvSpPr>
        <p:spPr bwMode="auto">
          <a:xfrm>
            <a:off x="857253" y="1522650"/>
            <a:ext cx="1280583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ประเภท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3" name="テキスト ボックス 3"/>
          <p:cNvSpPr txBox="1">
            <a:spLocks noChangeArrowheads="1"/>
          </p:cNvSpPr>
          <p:nvPr/>
        </p:nvSpPr>
        <p:spPr bwMode="auto">
          <a:xfrm>
            <a:off x="185051" y="903181"/>
            <a:ext cx="8707429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1" u="sng" dirty="0" err="1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Hokoku</a:t>
            </a:r>
            <a:r>
              <a:rPr lang="th-TH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(รายงาน)</a:t>
            </a:r>
            <a:r>
              <a:rPr lang="ja-JP" altLang="en-US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　</a:t>
            </a:r>
            <a:r>
              <a:rPr lang="th-TH" altLang="ja-JP" dirty="0">
                <a:solidFill>
                  <a:srgbClr val="0070C0"/>
                </a:solidFill>
                <a:latin typeface="PSL Methinee" panose="02020603050405020304" pitchFamily="18" charset="-34"/>
                <a:ea typeface="Tahoma" pitchFamily="34" charset="0"/>
                <a:cs typeface="PSL Methinee" panose="02020603050405020304" pitchFamily="18" charset="-34"/>
              </a:rPr>
              <a:t>คนที่ได้รับคำสั่งนั้นได้ปฏิบัติตามคำสั่งของผู้ที่สั่งการมาแล้ว ต้องทำการแจ้งผลระยะกลางหรือผลลัพธ์ให้ผู้ที่สั่งการ </a:t>
            </a:r>
            <a:endParaRPr lang="en-US" altLang="ja-JP" dirty="0">
              <a:solidFill>
                <a:srgbClr val="0070C0"/>
              </a:solidFill>
              <a:latin typeface="PSL Methinee" panose="02020603050405020304" pitchFamily="18" charset="-34"/>
              <a:ea typeface="Tahoma" pitchFamily="34" charset="0"/>
              <a:cs typeface="PSL Methinee" panose="02020603050405020304" pitchFamily="18" charset="-34"/>
            </a:endParaRPr>
          </a:p>
          <a:p>
            <a:r>
              <a:rPr lang="en-US" altLang="ja-JP" dirty="0">
                <a:solidFill>
                  <a:srgbClr val="0070C0"/>
                </a:solidFill>
                <a:latin typeface="PSL Methinee" panose="02020603050405020304" pitchFamily="18" charset="-34"/>
                <a:ea typeface="Tahoma" pitchFamily="34" charset="0"/>
                <a:cs typeface="PSL Methinee" panose="02020603050405020304" pitchFamily="18" charset="-34"/>
              </a:rPr>
              <a:t>                         </a:t>
            </a:r>
            <a:r>
              <a:rPr lang="th-TH" altLang="ja-JP" dirty="0">
                <a:solidFill>
                  <a:srgbClr val="0070C0"/>
                </a:solidFill>
                <a:latin typeface="PSL Methinee" panose="02020603050405020304" pitchFamily="18" charset="-34"/>
                <a:ea typeface="Tahoma" pitchFamily="34" charset="0"/>
                <a:cs typeface="PSL Methinee" panose="02020603050405020304" pitchFamily="18" charset="-34"/>
              </a:rPr>
              <a:t>   (และผู้เกี่ยวข้อง) ทราบ</a:t>
            </a:r>
            <a:endParaRPr lang="ja-JP" altLang="en-US" dirty="0">
              <a:solidFill>
                <a:srgbClr val="0070C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5004" name="Text Box 4"/>
          <p:cNvSpPr txBox="1">
            <a:spLocks noChangeArrowheads="1"/>
          </p:cNvSpPr>
          <p:nvPr/>
        </p:nvSpPr>
        <p:spPr bwMode="auto">
          <a:xfrm>
            <a:off x="2039816" y="3930026"/>
            <a:ext cx="69856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เร็วและบ่อย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　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เลือกขั้นตอนการถ่ายทอดตามวัตถุประสงค์, สถานการณ์ (ประชุม, โทรศัพท์, อีเมล เป็นต้น)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กรณีที่เป็นผู้รับข้อมูลให้ทบทวน, ยืนยัน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005" name="Text Box 5"/>
          <p:cNvSpPr txBox="1">
            <a:spLocks noChangeArrowheads="1"/>
          </p:cNvSpPr>
          <p:nvPr/>
        </p:nvSpPr>
        <p:spPr bwMode="auto">
          <a:xfrm>
            <a:off x="893237" y="3930025"/>
            <a:ext cx="2211917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กฏ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6" name="テキスト ボックス 3"/>
          <p:cNvSpPr>
            <a:spLocks noChangeArrowheads="1"/>
          </p:cNvSpPr>
          <p:nvPr/>
        </p:nvSpPr>
        <p:spPr bwMode="auto">
          <a:xfrm>
            <a:off x="2667001" y="4479095"/>
            <a:ext cx="3528484" cy="385141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h-TH" altLang="ja-JP" sz="1662" dirty="0">
                <a:latin typeface="Tahoma" pitchFamily="34" charset="0"/>
                <a:cs typeface="Tahoma" pitchFamily="34" charset="0"/>
              </a:rPr>
              <a:t>ถ่ายทอดโดยไม่ให้เข้าใจผิด</a:t>
            </a:r>
            <a:endParaRPr lang="ja-JP" altLang="en-US" sz="1662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7" name="Text Box 7"/>
          <p:cNvSpPr txBox="1">
            <a:spLocks noChangeArrowheads="1"/>
          </p:cNvSpPr>
          <p:nvPr/>
        </p:nvSpPr>
        <p:spPr bwMode="auto">
          <a:xfrm>
            <a:off x="1835696" y="3689340"/>
            <a:ext cx="53678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h-TH" altLang="ja-JP" sz="1200" b="1" dirty="0">
                <a:latin typeface="Tahoma" pitchFamily="34" charset="0"/>
                <a:cs typeface="Tahoma" pitchFamily="34" charset="0"/>
              </a:rPr>
              <a:t>การถ่ายทอดข้อมูล,การแบ่งปันข้อมูลของงานประจำ</a:t>
            </a:r>
            <a:endParaRPr lang="ja-JP" altLang="en-US" sz="1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8" name="Text Box 8"/>
          <p:cNvSpPr txBox="1">
            <a:spLocks noChangeArrowheads="1"/>
          </p:cNvSpPr>
          <p:nvPr/>
        </p:nvSpPr>
        <p:spPr bwMode="auto">
          <a:xfrm>
            <a:off x="857251" y="3667354"/>
            <a:ext cx="978445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ประเภท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09" name="テキスト ボックス 4"/>
          <p:cNvSpPr txBox="1">
            <a:spLocks noChangeArrowheads="1"/>
          </p:cNvSpPr>
          <p:nvPr/>
        </p:nvSpPr>
        <p:spPr bwMode="auto">
          <a:xfrm>
            <a:off x="185051" y="3282761"/>
            <a:ext cx="88403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1" u="sng" dirty="0" err="1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Renraku</a:t>
            </a:r>
            <a:r>
              <a:rPr lang="en-US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(</a:t>
            </a:r>
            <a:r>
              <a:rPr lang="th-TH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ติดต่อ</a:t>
            </a:r>
            <a:r>
              <a:rPr lang="en-US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/</a:t>
            </a:r>
            <a:r>
              <a:rPr lang="th-TH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แจ้ง</a:t>
            </a:r>
            <a:r>
              <a:rPr lang="th-TH" altLang="ja-JP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)</a:t>
            </a:r>
            <a:r>
              <a:rPr lang="ja-JP" altLang="en-US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　</a:t>
            </a:r>
            <a:r>
              <a:rPr lang="th-TH" altLang="ja-JP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แจ้งข้อมูลที่ได้รับจากผู้อื่นและที่ตัวเองรวบรวมให้กับผู้เกี่ยวข้องโดยไม่เพิ่มความคิดเห็นของตัวเองเข้าไป</a:t>
            </a:r>
            <a:endParaRPr lang="ja-JP" altLang="en-US" dirty="0">
              <a:solidFill>
                <a:srgbClr val="0070C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85010" name="Text Box 4"/>
          <p:cNvSpPr txBox="1">
            <a:spLocks noChangeArrowheads="1"/>
          </p:cNvSpPr>
          <p:nvPr/>
        </p:nvSpPr>
        <p:spPr bwMode="auto">
          <a:xfrm>
            <a:off x="2039816" y="5491144"/>
            <a:ext cx="7048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ไม่เก็บปัญหาไว้คนเดียว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　　　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เรียบเรียงว่าปัญหาที่แท้จริงมีอะไรบ้าง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อย่าลืมที่จะคิดถึงความสะดวกของฝ่ายตรงข้าม</a:t>
            </a:r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　　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เกี่ยวกับปัญหาที่ซับซ้อน “รูปแบบการแบ่งหัวข้อปัญหา”</a:t>
            </a:r>
            <a:endParaRPr lang="ja-JP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ja-JP" altLang="en-US" sz="1200" dirty="0">
                <a:latin typeface="Tahoma" panose="020B0604030504040204" pitchFamily="34" charset="0"/>
                <a:cs typeface="Tahoma" panose="020B0604030504040204" pitchFamily="34" charset="0"/>
              </a:rPr>
              <a:t>・</a:t>
            </a:r>
            <a:r>
              <a:rPr lang="th-TH" altLang="ja-JP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เรียบเรียงความคิดของตัวเอง (ถ่ายทอดจาก“ความคิดของฉันคือ”  ประโยค “ทำอย่างไรดี” เป็นคำต้องห้าม)</a:t>
            </a:r>
            <a:endParaRPr lang="en-US" altLang="ja-JP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011" name="Text Box 5"/>
          <p:cNvSpPr txBox="1">
            <a:spLocks noChangeArrowheads="1"/>
          </p:cNvSpPr>
          <p:nvPr/>
        </p:nvSpPr>
        <p:spPr bwMode="auto">
          <a:xfrm>
            <a:off x="857254" y="5507718"/>
            <a:ext cx="1699683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กฏ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12" name="テキスト ボックス 3"/>
          <p:cNvSpPr>
            <a:spLocks noChangeArrowheads="1"/>
          </p:cNvSpPr>
          <p:nvPr/>
        </p:nvSpPr>
        <p:spPr bwMode="auto">
          <a:xfrm>
            <a:off x="2667000" y="6390163"/>
            <a:ext cx="3429000" cy="38514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66FF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th-TH" altLang="ja-JP" sz="1662" dirty="0">
                <a:latin typeface="Tahoma" pitchFamily="34" charset="0"/>
                <a:cs typeface="Tahoma" pitchFamily="34" charset="0"/>
              </a:rPr>
              <a:t>มาตรวัดความไว้วางใจ</a:t>
            </a:r>
            <a:endParaRPr lang="ja-JP" altLang="en-US" sz="1662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13" name="Text Box 7"/>
          <p:cNvSpPr txBox="1">
            <a:spLocks noChangeArrowheads="1"/>
          </p:cNvSpPr>
          <p:nvPr/>
        </p:nvSpPr>
        <p:spPr bwMode="auto">
          <a:xfrm>
            <a:off x="1835696" y="5204199"/>
            <a:ext cx="607906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th-TH" altLang="ja-JP" sz="1200" b="1" dirty="0">
                <a:latin typeface="Tahoma" pitchFamily="34" charset="0"/>
                <a:cs typeface="Tahoma" pitchFamily="34" charset="0"/>
              </a:rPr>
              <a:t>ยืนยันความคิดเห็นหรือแนวทาง</a:t>
            </a:r>
            <a:endParaRPr lang="ja-JP" altLang="en-US" sz="1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14" name="Text Box 8"/>
          <p:cNvSpPr txBox="1">
            <a:spLocks noChangeArrowheads="1"/>
          </p:cNvSpPr>
          <p:nvPr/>
        </p:nvSpPr>
        <p:spPr bwMode="auto">
          <a:xfrm>
            <a:off x="857253" y="5260434"/>
            <a:ext cx="1318683" cy="24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969">
                <a:latin typeface="Tahoma" pitchFamily="34" charset="0"/>
                <a:cs typeface="Tahoma" pitchFamily="34" charset="0"/>
              </a:rPr>
              <a:t>□</a:t>
            </a:r>
            <a:r>
              <a:rPr lang="th-TH" altLang="ja-JP" sz="969" dirty="0">
                <a:latin typeface="Tahoma" pitchFamily="34" charset="0"/>
                <a:cs typeface="Tahoma" pitchFamily="34" charset="0"/>
              </a:rPr>
              <a:t>ประเภท</a:t>
            </a:r>
            <a:endParaRPr lang="ja-JP" altLang="en-US" sz="969">
              <a:latin typeface="Tahoma" pitchFamily="34" charset="0"/>
              <a:cs typeface="Tahoma" pitchFamily="34" charset="0"/>
            </a:endParaRPr>
          </a:p>
        </p:txBody>
      </p:sp>
      <p:sp>
        <p:nvSpPr>
          <p:cNvPr id="85015" name="テキスト ボックス 5"/>
          <p:cNvSpPr txBox="1">
            <a:spLocks noChangeArrowheads="1"/>
          </p:cNvSpPr>
          <p:nvPr/>
        </p:nvSpPr>
        <p:spPr bwMode="auto">
          <a:xfrm>
            <a:off x="185051" y="4929167"/>
            <a:ext cx="762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Soudan </a:t>
            </a:r>
            <a:r>
              <a:rPr lang="th-TH" altLang="ja-JP" sz="2000" b="1" u="sng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(ปรึกษา)</a:t>
            </a:r>
            <a:r>
              <a:rPr lang="ja-JP" altLang="en-US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　</a:t>
            </a:r>
            <a:r>
              <a:rPr lang="th-TH" altLang="ja-JP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ร้องขอคำชี้แนะในเรื่องที่ตัดสินใจไม่ได้</a:t>
            </a:r>
            <a:endParaRPr lang="ja-JP" altLang="en-US" b="1" dirty="0">
              <a:solidFill>
                <a:srgbClr val="0070C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4071" y="112467"/>
            <a:ext cx="7886700" cy="679418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4. HO-REN-SO</a:t>
            </a:r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FC2464-7161-40C3-B364-30453CCBDE47}" type="slidenum">
              <a:rPr lang="en-US" altLang="ja-JP" smtClean="0"/>
              <a:pPr>
                <a:defRPr/>
              </a:pPr>
              <a:t>28</a:t>
            </a:fld>
            <a:endParaRPr lang="en-US" altLang="ja-JP" dirty="0"/>
          </a:p>
        </p:txBody>
      </p:sp>
      <p:sp>
        <p:nvSpPr>
          <p:cNvPr id="5" name="Bent-Up Arrow 4"/>
          <p:cNvSpPr/>
          <p:nvPr/>
        </p:nvSpPr>
        <p:spPr>
          <a:xfrm rot="5400000">
            <a:off x="1123121" y="2032791"/>
            <a:ext cx="365760" cy="1828800"/>
          </a:xfrm>
          <a:prstGeom prst="bentUp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Bent-Up Arrow 28"/>
          <p:cNvSpPr/>
          <p:nvPr/>
        </p:nvSpPr>
        <p:spPr>
          <a:xfrm rot="5400000">
            <a:off x="1120956" y="3667215"/>
            <a:ext cx="344649" cy="1828800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Bent-Up Arrow 29"/>
          <p:cNvSpPr/>
          <p:nvPr/>
        </p:nvSpPr>
        <p:spPr>
          <a:xfrm rot="5400000">
            <a:off x="1110281" y="5591143"/>
            <a:ext cx="344649" cy="1828800"/>
          </a:xfrm>
          <a:prstGeom prst="bentUpArrow">
            <a:avLst/>
          </a:prstGeom>
          <a:solidFill>
            <a:srgbClr val="ECACFE"/>
          </a:solidFill>
          <a:ln>
            <a:solidFill>
              <a:srgbClr val="ECAC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97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8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อิทธิพลของการสื่อสาร</a:t>
            </a:r>
            <a:endParaRPr lang="en-US" sz="48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15350" y="6492875"/>
            <a:ext cx="628650" cy="365125"/>
          </a:xfrm>
        </p:spPr>
        <p:txBody>
          <a:bodyPr/>
          <a:lstStyle/>
          <a:p>
            <a:fld id="{00A407FF-32AA-4FE0-BDDE-2C7FFD89B73F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59004" y="5750214"/>
            <a:ext cx="292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Albert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Mehrabian’s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Rule</a:t>
            </a: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495393334"/>
              </p:ext>
            </p:extLst>
          </p:nvPr>
        </p:nvGraphicFramePr>
        <p:xfrm>
          <a:off x="1543005" y="168621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83730" y="1552301"/>
            <a:ext cx="846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คำพูด</a:t>
            </a:r>
            <a:endParaRPr lang="en-US" sz="3200" b="1" dirty="0">
              <a:solidFill>
                <a:srgbClr val="FFFF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930" y="3505064"/>
            <a:ext cx="12121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น้ำเสียง</a:t>
            </a:r>
          </a:p>
          <a:p>
            <a:r>
              <a:rPr lang="th-TH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โทนเสียง</a:t>
            </a:r>
            <a:endParaRPr lang="en-US" sz="3200" b="1" dirty="0">
              <a:solidFill>
                <a:srgbClr val="FFFF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3889" y="3258842"/>
            <a:ext cx="14269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ภาษากาย</a:t>
            </a:r>
          </a:p>
          <a:p>
            <a:r>
              <a:rPr lang="th-TH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</a:t>
            </a:r>
            <a:r>
              <a:rPr lang="en-US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Body </a:t>
            </a:r>
          </a:p>
          <a:p>
            <a:r>
              <a:rPr lang="en-US" sz="3200" b="1" dirty="0">
                <a:solidFill>
                  <a:srgbClr val="FFFF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Language)</a:t>
            </a:r>
            <a:endParaRPr lang="th-TH" sz="3200" b="1" dirty="0">
              <a:solidFill>
                <a:srgbClr val="FFFF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176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9660"/>
            <a:ext cx="7886700" cy="825590"/>
          </a:xfrm>
        </p:spPr>
        <p:txBody>
          <a:bodyPr/>
          <a:lstStyle/>
          <a:p>
            <a:r>
              <a:rPr lang="en-US" dirty="0"/>
              <a:t>Body Language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15350" y="6351460"/>
            <a:ext cx="628650" cy="365125"/>
          </a:xfrm>
        </p:spPr>
        <p:txBody>
          <a:bodyPr/>
          <a:lstStyle/>
          <a:p>
            <a:fld id="{00A407FF-32AA-4FE0-BDDE-2C7FFD89B73F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82" y="1388760"/>
            <a:ext cx="4677429" cy="2631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36" y="1212672"/>
            <a:ext cx="3977639" cy="2983229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1620" r="17980"/>
          <a:stretch/>
        </p:blipFill>
        <p:spPr>
          <a:xfrm>
            <a:off x="664143" y="4078160"/>
            <a:ext cx="4023360" cy="2638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542" y="4195901"/>
            <a:ext cx="3905666" cy="218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4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050" y="85726"/>
            <a:ext cx="7886700" cy="1325563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ตัวอย่างปัญหาการสื่อสารภายในองค์กร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666" y="1555851"/>
            <a:ext cx="4463114" cy="4351338"/>
          </a:xfr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lIns="91440" tIns="91440" bIns="91440">
            <a:noAutofit/>
          </a:bodyPr>
          <a:lstStyle/>
          <a:p>
            <a:pPr marL="346075" indent="-346075">
              <a:lnSpc>
                <a:spcPct val="120000"/>
              </a:lnSpc>
              <a:buNone/>
            </a:pP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 1. 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ไม่สื่อสาร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ปัญหาอย่างตรงไปตรงมา</a:t>
            </a:r>
          </a:p>
          <a:p>
            <a:pPr marL="346075" indent="-346075">
              <a:lnSpc>
                <a:spcPct val="120000"/>
              </a:lnSpc>
              <a:buNone/>
            </a:pP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2. ปัญหาการ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แสดงพฤติกรรม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การสื่อสารที่ไม่สร้างสรรค์</a:t>
            </a:r>
          </a:p>
          <a:p>
            <a:pPr marL="346075" indent="-346075">
              <a:lnSpc>
                <a:spcPct val="120000"/>
              </a:lnSpc>
              <a:buNone/>
            </a:pP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3. ปัญหาการสื่อสาร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ไม่ครบถ้วน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ขาดความชัดเจน</a:t>
            </a:r>
          </a:p>
          <a:p>
            <a:pPr marL="346075" indent="-346075">
              <a:lnSpc>
                <a:spcPct val="120000"/>
              </a:lnSpc>
              <a:buNone/>
            </a:pP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4. ปัญหาการสื่อสาร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ทางเดียว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และขาดการมีส่วนร่วม</a:t>
            </a:r>
          </a:p>
          <a:p>
            <a:pPr marL="346075" indent="-346075">
              <a:lnSpc>
                <a:spcPct val="120000"/>
              </a:lnSpc>
              <a:buNone/>
            </a:pP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5. ปัญหาการ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เลือกช่องทาง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และวิธีการสื่อสารที่ผิดพลาด </a:t>
            </a:r>
            <a:endParaRPr lang="en-US" sz="2400" b="1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31</a:t>
            </a:fld>
            <a:endParaRPr lang="en-US"/>
          </a:p>
        </p:txBody>
      </p:sp>
      <p:sp>
        <p:nvSpPr>
          <p:cNvPr id="5" name="Content Placeholder 5"/>
          <p:cNvSpPr txBox="1">
            <a:spLocks/>
          </p:cNvSpPr>
          <p:nvPr/>
        </p:nvSpPr>
        <p:spPr>
          <a:xfrm>
            <a:off x="5091298" y="1555850"/>
            <a:ext cx="3693092" cy="43513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91440" rIns="91440" bIns="9144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6.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หัวหน้ากับลูกน้อง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ไม่คุย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กัน</a:t>
            </a:r>
            <a:endParaRPr lang="en-US" sz="2400" b="1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7.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หัวหน้า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คิดไปเอง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ว่าลูกน้องรู้แล้ว</a:t>
            </a:r>
            <a:b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</a:b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8.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ปัญหาช่องว่าง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ระหว่างวัย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9.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ลูกน้องคิดเองว่า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ลูกพี่จะรู้เองได้</a:t>
            </a:r>
            <a:b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</a:b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10.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เรื่อง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ดีไม่พูด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พูดแต่เรื่องไม่ดี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11. 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สื่อสารกันด้วย</a:t>
            </a:r>
            <a:r>
              <a:rPr lang="th-TH" sz="2400" b="1" dirty="0">
                <a:solidFill>
                  <a:srgbClr val="C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เทคโนโลยี</a:t>
            </a:r>
            <a:r>
              <a:rPr lang="th-TH" sz="24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มากเกินไป</a:t>
            </a:r>
            <a:endParaRPr lang="en-US" sz="2400" b="1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87781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0116" y="255060"/>
            <a:ext cx="7886700" cy="949324"/>
          </a:xfrm>
        </p:spPr>
        <p:txBody>
          <a:bodyPr>
            <a:normAutofit/>
          </a:bodyPr>
          <a:lstStyle/>
          <a:p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แนวทางการสื่อสารระหว่างหัวหน้า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 </a:t>
            </a:r>
            <a:r>
              <a:rPr lang="en-US" sz="4400" dirty="0">
                <a:latin typeface="PSL ThaiAntique" panose="02020603050405020304" pitchFamily="18" charset="-34"/>
                <a:cs typeface="PSL ThaiAntique" panose="02020603050405020304" pitchFamily="18" charset="-34"/>
                <a:sym typeface="Wingdings" panose="05000000000000000000" pitchFamily="2" charset="2"/>
              </a:rPr>
              <a:t>&lt;--&gt;</a:t>
            </a:r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  <a:sym typeface="Wingdings" panose="05000000000000000000" pitchFamily="2" charset="2"/>
              </a:rPr>
              <a:t>ลูกน้อง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10116" y="1337183"/>
            <a:ext cx="7886700" cy="47655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h-TH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ปัญหาการสื่อสาร</a:t>
            </a:r>
          </a:p>
          <a:p>
            <a:pPr marL="0" indent="0"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พูด-ฟัง 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ไม่ครบ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ตามที่ตัวเองตั้งใจจะสื่อสาร </a:t>
            </a:r>
          </a:p>
          <a:p>
            <a:pPr marL="0" indent="0"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แต่ทั้งผู้พูดและผู้ฟังคิดว่าตัวเองพูด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-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ฟัง 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ครบ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เจตนา 100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%</a:t>
            </a:r>
          </a:p>
          <a:p>
            <a:pPr marL="0" indent="0">
              <a:buNone/>
            </a:pPr>
            <a:endParaRPr lang="th-TH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0" indent="0">
              <a:buNone/>
            </a:pPr>
            <a:r>
              <a:rPr lang="th-TH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แนวทางแก้ไข</a:t>
            </a:r>
          </a:p>
          <a:p>
            <a:pPr marL="514350" indent="-514350">
              <a:buAutoNum type="arabicPeriod"/>
            </a:pP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เรียบเรียง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ความคิดให้ชัดเจนก่อนพูด</a:t>
            </a:r>
          </a:p>
          <a:p>
            <a:pPr marL="514350" indent="-514350">
              <a:buAutoNum type="arabicPeriod"/>
            </a:pP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สื่อสาร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ให้ชัดเจนและถูกจริตผู้ฟัง</a:t>
            </a:r>
          </a:p>
          <a:p>
            <a:pPr marL="514350" indent="-514350">
              <a:buAutoNum type="arabicPeriod"/>
            </a:pP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ตั้งใจฟัง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พยายามเข้าใจเจตนาที่แท้จริง</a:t>
            </a:r>
          </a:p>
          <a:p>
            <a:pPr marL="514350" indent="-514350">
              <a:buAutoNum type="arabicPeriod"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ฟังจบ 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สรุป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เนื้อหาและเจตนา และ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ถาม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แจกแจง</a:t>
            </a:r>
          </a:p>
          <a:p>
            <a:pPr marL="514350" indent="-514350">
              <a:buAutoNum type="arabicPeriod"/>
            </a:pP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ประเมินตนเอง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ทุกครั้งด้วยชุดคำถาม ก-ง</a:t>
            </a:r>
          </a:p>
          <a:p>
            <a:pPr marL="514350" indent="-514350">
              <a:buAutoNum type="arabicPeriod"/>
            </a:pP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ประเมินผลลัพธ์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ของงานว่าตรงตามเจตนาเพียงใด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78519" y="3027769"/>
            <a:ext cx="2519128" cy="2800767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th-TH" sz="1600" u="sng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หากคุณเป็นหัวหน้า</a:t>
            </a:r>
          </a:p>
          <a:p>
            <a:pPr marL="166688" indent="-166688">
              <a:buAutoNum type="thaiAlphaPeriod"/>
            </a:pPr>
            <a:r>
              <a:rPr lang="th-TH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เวลาที่คุณสื่อสารกับลูกน้อง คุณคิดว่าเขาควรจะเข้าใจคุณเพียงใด (0-100</a:t>
            </a:r>
            <a:r>
              <a:rPr lang="en-US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%)</a:t>
            </a:r>
          </a:p>
          <a:p>
            <a:pPr marL="166688" indent="-166688">
              <a:buFontTx/>
              <a:buAutoNum type="thaiAlphaPeriod"/>
            </a:pPr>
            <a:r>
              <a:rPr lang="th-TH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หลังจากสื่อสารแล้ว คุณคิดว่าลูกน้องเข้าใจคุณได้ดีเพียงใด (0-100</a:t>
            </a:r>
            <a:r>
              <a:rPr lang="en-US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%)</a:t>
            </a:r>
            <a:endParaRPr lang="th-TH" sz="1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342900" indent="-342900">
              <a:buFontTx/>
              <a:buAutoNum type="thaiAlphaPeriod"/>
            </a:pPr>
            <a:endParaRPr lang="th-TH" sz="1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r>
              <a:rPr lang="th-TH" sz="1600" u="sng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หากคุณเป็นลูกน้อง</a:t>
            </a:r>
          </a:p>
          <a:p>
            <a:r>
              <a:rPr lang="th-TH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ค. เวลาที่คุณสื่อสารกับหัวหน้า คุณคิดว่าหัวหน้าควรจะเข้าใจคุณเพียงใด (0-100</a:t>
            </a:r>
            <a:r>
              <a:rPr lang="en-US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%)</a:t>
            </a:r>
            <a:endParaRPr lang="th-TH" sz="1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r>
              <a:rPr lang="th-TH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ง. หลังจากสื่อสารแล้ว คุณคิดว่าหัวหน้าเข้าใจคุณได้ดีเพียงใด (0-100</a:t>
            </a:r>
            <a:r>
              <a:rPr lang="en-US" sz="1600" dirty="0">
                <a:latin typeface="PSL Methinee" panose="02020603050405020304" pitchFamily="18" charset="-34"/>
                <a:cs typeface="PSL Methinee" panose="02020603050405020304" pitchFamily="18" charset="-34"/>
              </a:rPr>
              <a:t>%)</a:t>
            </a:r>
          </a:p>
        </p:txBody>
      </p:sp>
      <p:cxnSp>
        <p:nvCxnSpPr>
          <p:cNvPr id="9" name="Elbow Connector 8"/>
          <p:cNvCxnSpPr>
            <a:stCxn id="10" idx="6"/>
            <a:endCxn id="7" idx="1"/>
          </p:cNvCxnSpPr>
          <p:nvPr/>
        </p:nvCxnSpPr>
        <p:spPr>
          <a:xfrm flipV="1">
            <a:off x="5249265" y="4428153"/>
            <a:ext cx="1129254" cy="694078"/>
          </a:xfrm>
          <a:prstGeom prst="bentConnector3">
            <a:avLst/>
          </a:prstGeom>
          <a:ln w="127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9"/>
          <p:cNvSpPr/>
          <p:nvPr/>
        </p:nvSpPr>
        <p:spPr>
          <a:xfrm>
            <a:off x="5082117" y="5043532"/>
            <a:ext cx="167148" cy="157397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3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Canon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9578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5. Coordination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46510" y="1786941"/>
            <a:ext cx="86434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800" b="1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ความหมายการประสานงาน </a:t>
            </a:r>
          </a:p>
          <a:p>
            <a:r>
              <a:rPr lang="th-TH" sz="2800" b="1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การ</a:t>
            </a:r>
            <a:r>
              <a:rPr lang="th-TH" sz="2800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จัดระเบียบวิธีการทำงาน</a:t>
            </a:r>
            <a:r>
              <a:rPr lang="th-TH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เพื่อให้งานและเจ้าหน้าที่ฝ่ายต่าง ๆ ร่วมมือปฏิบัติงานเป็นน้ำหนึ่งใจเดียวกัน</a:t>
            </a:r>
            <a:r>
              <a:rPr lang="en-US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</a:t>
            </a:r>
            <a:r>
              <a:rPr lang="th-TH" sz="2800" b="1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ไม่ทำให้งานซ้ำซ้อน ขัดแย้งกัน หรือเหลื่อมล้ำกัน</a:t>
            </a:r>
            <a:r>
              <a:rPr lang="th-TH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เพื่อลดข้อขัดแย้ง และทำให้งานดำเนินไปได้อย่าราบรื่นสอดคล้องกับวัตถุประสงค์และนโยบายขององค์กร </a:t>
            </a:r>
            <a:endParaRPr lang="en-US" sz="2800" dirty="0">
              <a:solidFill>
                <a:srgbClr val="0000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4875"/>
            <a:ext cx="2143125" cy="21431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68364" y="4136934"/>
            <a:ext cx="53469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เป็น</a:t>
            </a:r>
            <a:r>
              <a:rPr lang="th-TH" sz="2800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การจัดให้คน</a:t>
            </a:r>
            <a:r>
              <a:rPr lang="th-TH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ในองค์กรทำงานให้สัมพันธ์สอดคล้องกัน โดยจะต้องตระหนักถึง</a:t>
            </a:r>
            <a:r>
              <a:rPr lang="th-TH" sz="2800" b="1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หน้าที่ความรับผิดชอบ วัตถุประสงค์ เป้าหมาย และมาตรฐานการปฏิบัติ</a:t>
            </a:r>
            <a:r>
              <a:rPr lang="th-TH" sz="2800" dirty="0">
                <a:solidFill>
                  <a:srgbClr val="00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ขององค์กรเป็นหลัก </a:t>
            </a:r>
            <a:endParaRPr lang="en-US" sz="2800" dirty="0">
              <a:solidFill>
                <a:srgbClr val="0000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7789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7978"/>
            <a:ext cx="7886700" cy="1066750"/>
          </a:xfrm>
        </p:spPr>
        <p:txBody>
          <a:bodyPr>
            <a:normAutofit/>
          </a:bodyPr>
          <a:lstStyle/>
          <a:p>
            <a:pPr algn="ctr"/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ลักษณะของการประสานงานที่ดี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148" y="1442582"/>
            <a:ext cx="4023360" cy="449364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1. พยายาม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ผูกมิตร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ในโอกาสแรก 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2.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หลีกเลี่ยง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การนินทาว่าร้ายผู้อื่น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3.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ไม่โยน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ความผิดไปให้ผู้อื่น 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4.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ไม่ฟ้อง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ผู้บริหาร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4.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สรรเสริญ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ผู้อื่นเมื่อเขาทำดี 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5.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ช่วยเหลือ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เมื่อมีเหตุฉุกเฉิน </a:t>
            </a:r>
          </a:p>
          <a:p>
            <a:pPr marL="225425" indent="-225425">
              <a:lnSpc>
                <a:spcPct val="100000"/>
              </a:lnSpc>
              <a:spcBef>
                <a:spcPts val="6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6. เมื่อมีงานเกี่ยวข้องกับหน่วยงานอื่น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ควรแจ้งให้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เขาทราบ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56355" y="1442582"/>
            <a:ext cx="4023360" cy="44936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7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. รับฟัง/ขอ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คำแนะนำ </a:t>
            </a:r>
          </a:p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8. ความเห็นของคนอื่นแม้เราจะไม่เห็นด้วยก็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ควรรับฟัง</a:t>
            </a:r>
          </a:p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9. 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สื่อสาร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กับทีมงานอย่างตรงไปตรงมา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10.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ใช้กฎแห่งการ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ตอบแทน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ซึ่งกันและกัน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11.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เฉลิมฉลองและ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ให้รางวัล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การทำงานเป็นทีมที่ยอดเยี่ยม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  <a:p>
            <a:pPr marL="344488" indent="-34448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12.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ค้นหา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ความท้าทายและอุปสรรค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ของพวกเขา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84855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ปัญหาในการประสานงาน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467242"/>
          </a:xfrm>
        </p:spPr>
        <p:txBody>
          <a:bodyPr>
            <a:normAutofit/>
          </a:bodyPr>
          <a:lstStyle/>
          <a:p>
            <a:r>
              <a:rPr lang="th-TH" sz="3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ให้ข้อมูลล่าช้าเกินไป</a:t>
            </a:r>
          </a:p>
          <a:p>
            <a:r>
              <a:rPr lang="th-TH" sz="3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รับ – ส่งข้อมูลผิดพลาด</a:t>
            </a:r>
          </a:p>
          <a:p>
            <a:r>
              <a:rPr lang="th-TH" sz="3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เพิกเฉย และหลงลืม</a:t>
            </a:r>
          </a:p>
          <a:p>
            <a:r>
              <a:rPr lang="th-TH" sz="3600" dirty="0">
                <a:latin typeface="PSL Methinee" panose="02020603050405020304" pitchFamily="18" charset="-34"/>
                <a:cs typeface="PSL Methinee" panose="02020603050405020304" pitchFamily="18" charset="-34"/>
              </a:rPr>
              <a:t>ไม่ได้รับความร่วมมือ</a:t>
            </a:r>
            <a:endParaRPr lang="en-US" sz="36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24101"/>
          <a:stretch/>
        </p:blipFill>
        <p:spPr>
          <a:xfrm>
            <a:off x="3507194" y="4668253"/>
            <a:ext cx="5008156" cy="19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81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4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หลักการบริหารคน</a:t>
            </a:r>
            <a:endParaRPr lang="en-US" sz="44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4254" y="1690689"/>
            <a:ext cx="78867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ใช้กฏเกณฑ์หลักการ (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Rule, Regulation, Law)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เช่น กฏเกณฑ์ขององค์กร การใช้อำนาจหน้าที่ของผู้บังคับบัญชา เป็นต้น 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(พระเดช)</a:t>
            </a:r>
          </a:p>
          <a:p>
            <a:pPr marL="514350" indent="-514350">
              <a:buAutoNum type="arabicPeriod"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ใช้เทคนิค (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Techniques)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 หรือเทคนิคทางจิตวิทยา ผู้นำจะต้องรู้หลักจิตวิทยา เข้าใจธรรมชาติของคน การจูงใจคน เป็นต้น 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(พระคุณ)</a:t>
            </a:r>
            <a:endParaRPr lang="en-US" dirty="0">
              <a:solidFill>
                <a:srgbClr val="FF00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44188" y="4213533"/>
            <a:ext cx="3185487" cy="1631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ความต้องการของคน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ความรัก </a:t>
            </a:r>
            <a:r>
              <a:rPr lang="en-US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: </a:t>
            </a: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อยากได้</a:t>
            </a: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ความรัก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รางวัล </a:t>
            </a:r>
            <a:r>
              <a:rPr lang="en-US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: </a:t>
            </a: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อยากได้รับการ</a:t>
            </a: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ชมเชย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ยอมรับ </a:t>
            </a:r>
            <a:r>
              <a:rPr lang="en-US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: </a:t>
            </a: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อยากได้รับการ</a:t>
            </a: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ยอมรับ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ประโยชน์ </a:t>
            </a:r>
            <a:r>
              <a:rPr lang="en-US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: </a:t>
            </a: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อยากทำตัวให้เป็น</a:t>
            </a: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ประโยชน์</a:t>
            </a:r>
            <a:endParaRPr lang="en-US" sz="2000" dirty="0">
              <a:solidFill>
                <a:srgbClr val="FF00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8650" y="4231584"/>
            <a:ext cx="4642618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ทักษะในการบริหารคน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ความสามารถในการถ่ายทอดความคิด </a:t>
            </a:r>
            <a:r>
              <a:rPr lang="th-TH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(สื่อสาร)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ความสามารถในการสร้างแรงจูงใจ </a:t>
            </a:r>
            <a:r>
              <a:rPr lang="th-TH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(กระตุ้น)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ความสามารถในการรวมพลังความสามารถของทีม </a:t>
            </a:r>
            <a:r>
              <a:rPr lang="th-TH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(ทีมเวิร์ค)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ความสามารถทำให้ลูกน้องเชื่อถือ</a:t>
            </a:r>
            <a:r>
              <a:rPr lang="th-TH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(มนุษยสัมพันธ์)</a:t>
            </a:r>
          </a:p>
          <a:p>
            <a:pPr marL="342900" indent="-342900">
              <a:buAutoNum type="arabicPeriod"/>
            </a:pPr>
            <a:r>
              <a:rPr lang="th-TH" sz="2000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ความสามารถในการเข้าใจคน </a:t>
            </a:r>
            <a:r>
              <a:rPr lang="th-TH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(</a:t>
            </a:r>
            <a:r>
              <a:rPr lang="en-US" sz="2000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Human skill)</a:t>
            </a:r>
          </a:p>
        </p:txBody>
      </p:sp>
    </p:spTree>
    <p:extLst>
      <p:ext uri="{BB962C8B-B14F-4D97-AF65-F5344CB8AC3E}">
        <p14:creationId xmlns:p14="http://schemas.microsoft.com/office/powerpoint/2010/main" val="1843606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1347"/>
            <a:ext cx="3296653" cy="3296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05409"/>
          </a:xfrm>
        </p:spPr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0571" y="1009954"/>
            <a:ext cx="5498561" cy="5255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1. Role &amp; Responsibility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Difference Role &amp; Responsibility of J2 vs J3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2. Corporate Culture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Philosophy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Principle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Canon Challenge Spirit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3. Compliance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Responsibility of Business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Canon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4.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Effective Communication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Body language, One way , two way communication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5.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Definition &amp; Importance of cooperation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Problems about cooperation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Techniques of cooperating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6. Sense of Ownership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206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Mindset of ownership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8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6908"/>
          </a:xfrm>
          <a:solidFill>
            <a:srgbClr val="002060"/>
          </a:solidFill>
          <a:ln>
            <a:noFill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6. Sense of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“Sense of Ownership”</a:t>
            </a:r>
            <a:r>
              <a:rPr lang="en-US" dirty="0">
                <a:latin typeface="PSL Methinee" panose="02020603050405020304" pitchFamily="18" charset="-34"/>
                <a:cs typeface="PSL Methinee" panose="02020603050405020304" pitchFamily="18" charset="-34"/>
              </a:rPr>
              <a:t> </a:t>
            </a:r>
            <a:r>
              <a:rPr lang="th-TH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เป็นมากกว่าความรับผิดชอบในหน้าที่</a:t>
            </a:r>
            <a:r>
              <a:rPr lang="th-TH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แต่เป็นความคิดหรือความรู้สึกของพนักงานที่ต้องการเห็นองค์กรของพวกเขาประสบผลสำเร็จในเป้าหมาย ก้าวผ่านอุปสรรค สร้างผลกำไรและเติบโต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หมายความว่าเราสามารถรู้สึกเหมือนเรา "</a:t>
            </a:r>
            <a:r>
              <a:rPr lang="th-TH" b="1" dirty="0">
                <a:solidFill>
                  <a:srgbClr val="0070C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เป็นเจ้าของ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" บางสิ่งบางอย่างได้ แม้ว่าจะไม่ใช่วัตถุทางกายภาพก็ตาม ... คนที่มีความรู้สึกเป็นเจ้าของอย่างแรงกล้าจะพูดว่า “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ฉันต้องทำงานนี้ ฉันทำได้ 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และฉันจึงเป็นเจ้าของ</a:t>
            </a:r>
            <a:r>
              <a:rPr lang="th-TH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ความรับผิดชอบในการบรรลุความสำเร็จ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”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39</a:t>
            </a:fld>
            <a:endParaRPr lang="en-US"/>
          </a:p>
        </p:txBody>
      </p:sp>
      <p:sp>
        <p:nvSpPr>
          <p:cNvPr id="5" name="Round Diagonal Corner Rectangle 4"/>
          <p:cNvSpPr/>
          <p:nvPr/>
        </p:nvSpPr>
        <p:spPr>
          <a:xfrm>
            <a:off x="238545" y="5572527"/>
            <a:ext cx="3976576" cy="914400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4000" b="1" dirty="0">
                <a:solidFill>
                  <a:srgbClr val="00206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จิตสำนึกในการเป็นเจ้าของ</a:t>
            </a:r>
            <a:endParaRPr lang="en-US" sz="4000" b="1" dirty="0">
              <a:solidFill>
                <a:srgbClr val="00206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6" name="Round Diagonal Corner Rectangle 5"/>
          <p:cNvSpPr/>
          <p:nvPr/>
        </p:nvSpPr>
        <p:spPr>
          <a:xfrm>
            <a:off x="4376947" y="5572527"/>
            <a:ext cx="3976576" cy="914400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Entrepreneurship</a:t>
            </a:r>
          </a:p>
        </p:txBody>
      </p:sp>
    </p:spTree>
    <p:extLst>
      <p:ext uri="{BB962C8B-B14F-4D97-AF65-F5344CB8AC3E}">
        <p14:creationId xmlns:p14="http://schemas.microsoft.com/office/powerpoint/2010/main" val="2766638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400" dirty="0">
                <a:latin typeface="PSL ThaiAntique" panose="02020603050405020304" pitchFamily="18" charset="-34"/>
                <a:cs typeface="PSL ThaiAntique" panose="02020603050405020304" pitchFamily="18" charset="-34"/>
              </a:rPr>
              <a:t>5 วิธีการพัฒนาจิตสำนึกความเป็นเจ้าของ</a:t>
            </a:r>
            <a:endParaRPr lang="en-US" sz="4400" dirty="0">
              <a:latin typeface="PSL ThaiAntique" panose="02020603050405020304" pitchFamily="18" charset="-34"/>
              <a:cs typeface="PSL ThaiAntique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1</a:t>
            </a:r>
            <a:r>
              <a:rPr lang="en-US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.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 ทุกคน</a:t>
            </a:r>
            <a:r>
              <a:rPr lang="th-TH" sz="4000" b="1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ร่วมมือกัน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เพื่อแบ่งปันวิสัยทัศน์</a:t>
            </a:r>
          </a:p>
          <a:p>
            <a:pPr marL="0" indent="0">
              <a:buNone/>
            </a:pP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2</a:t>
            </a:r>
            <a:r>
              <a:rPr lang="en-US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.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 กล้าส่งต่อให้อำนาจการ</a:t>
            </a:r>
            <a:r>
              <a:rPr lang="th-TH" sz="4000" b="1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ตัดสินใจ</a:t>
            </a:r>
          </a:p>
          <a:p>
            <a:pPr marL="0" indent="0">
              <a:buNone/>
            </a:pP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3</a:t>
            </a:r>
            <a:r>
              <a:rPr lang="en-US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.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 เชื่อมโยงการมี</a:t>
            </a:r>
            <a:r>
              <a:rPr lang="th-TH" sz="4000" b="1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ส่วนร่วมกับ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ความสำเร็จขององค์กร</a:t>
            </a:r>
          </a:p>
          <a:p>
            <a:pPr marL="0" indent="0">
              <a:buNone/>
            </a:pP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4</a:t>
            </a:r>
            <a:r>
              <a:rPr lang="en-US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.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 ให้</a:t>
            </a:r>
            <a:r>
              <a:rPr lang="th-TH" sz="4000" b="1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อิสระ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ในการทำงานมากขึ้น</a:t>
            </a:r>
          </a:p>
          <a:p>
            <a:pPr marL="0" indent="0">
              <a:buNone/>
            </a:pP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5</a:t>
            </a:r>
            <a:r>
              <a:rPr lang="en-US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.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 บอกเขาว่าฉัน</a:t>
            </a:r>
            <a:r>
              <a:rPr lang="th-TH" sz="4000" b="1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ไว้ใจ</a:t>
            </a:r>
            <a:r>
              <a:rPr lang="th-TH" sz="4000" b="1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คุณ</a:t>
            </a:r>
            <a:endParaRPr lang="en-US" sz="4000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224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00" y="1147763"/>
            <a:ext cx="7772400" cy="2387600"/>
          </a:xfrm>
        </p:spPr>
        <p:txBody>
          <a:bodyPr>
            <a:normAutofit/>
          </a:bodyPr>
          <a:lstStyle/>
          <a:p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คุณถูก</a:t>
            </a:r>
            <a:r>
              <a:rPr lang="th-TH" dirty="0">
                <a:solidFill>
                  <a:srgbClr val="00B0F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คาดหวัง</a:t>
            </a:r>
            <a:r>
              <a:rPr lang="th-TH" dirty="0">
                <a:latin typeface="PSL Methinee" panose="02020603050405020304" pitchFamily="18" charset="-34"/>
                <a:cs typeface="PSL Methinee" panose="02020603050405020304" pitchFamily="18" charset="-34"/>
              </a:rPr>
              <a:t>ให้มีจิตสำนึกในการเป็นเจ้าของ</a:t>
            </a:r>
            <a:endParaRPr lang="en-US" dirty="0"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3300" y="3627438"/>
            <a:ext cx="6858000" cy="646112"/>
          </a:xfrm>
        </p:spPr>
        <p:txBody>
          <a:bodyPr>
            <a:normAutofit fontScale="92500" lnSpcReduction="10000"/>
          </a:bodyPr>
          <a:lstStyle/>
          <a:p>
            <a:r>
              <a:rPr lang="th-TH" sz="4400" dirty="0">
                <a:solidFill>
                  <a:srgbClr val="C00000"/>
                </a:solidFill>
                <a:latin typeface="PSL Omyim" panose="02020603050405020304" pitchFamily="18" charset="-34"/>
                <a:cs typeface="PSL Omyim" panose="02020603050405020304" pitchFamily="18" charset="-34"/>
              </a:rPr>
              <a:t>คุณจะแสดงออกมาอย่างไร </a:t>
            </a:r>
            <a:r>
              <a:rPr lang="en-US" sz="4400" dirty="0">
                <a:solidFill>
                  <a:srgbClr val="C00000"/>
                </a:solidFill>
                <a:latin typeface="PSL Omyim" panose="02020603050405020304" pitchFamily="18" charset="-34"/>
                <a:cs typeface="PSL Omyim" panose="02020603050405020304" pitchFamily="18" charset="-34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22500" y="4273550"/>
            <a:ext cx="7038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ทำทุกวิถีทางเพื่อให้งานสำเร็จ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พยายามหาทางแก้ไขปัญหา ไม่ว่าจะต้องใช้สัมพันธภาพส่วนตัวก็ตาม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h-TH" sz="2000" dirty="0">
                <a:solidFill>
                  <a:srgbClr val="FF0000"/>
                </a:solidFill>
                <a:latin typeface="PSL Methinee" panose="02020603050405020304" pitchFamily="18" charset="-34"/>
                <a:cs typeface="PSL Methinee" panose="02020603050405020304" pitchFamily="18" charset="-34"/>
              </a:rPr>
              <a:t>หาทางออกไว้หลาย ๆ ทางเลือกเพื่อไปนำเสนอ พร้อมเหตุผล ข้อดี-ข้อเสียของแต่ละทางเลือก</a:t>
            </a:r>
            <a:endParaRPr lang="en-US" sz="2000" dirty="0">
              <a:solidFill>
                <a:srgbClr val="FF0000"/>
              </a:solidFill>
              <a:latin typeface="PSL Methinee" panose="02020603050405020304" pitchFamily="18" charset="-34"/>
              <a:cs typeface="PSL Methinee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189090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7556" y="1154526"/>
            <a:ext cx="7772400" cy="36191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th-TH" dirty="0">
                <a:solidFill>
                  <a:srgbClr val="002060"/>
                </a:solidFill>
                <a:latin typeface="PSL Kittithada" panose="02020603050405020304" pitchFamily="18" charset="-34"/>
                <a:cs typeface="PSL Kittithada" panose="02020603050405020304" pitchFamily="18" charset="-34"/>
              </a:rPr>
              <a:t>หัวหน้างาน</a:t>
            </a:r>
            <a:r>
              <a:rPr lang="en-US" sz="4800" dirty="0">
                <a:solidFill>
                  <a:srgbClr val="002060"/>
                </a:solidFill>
                <a:latin typeface="PSL Kittithada" panose="02020603050405020304" pitchFamily="18" charset="-34"/>
                <a:cs typeface="PSL Kittithada" panose="02020603050405020304" pitchFamily="18" charset="-34"/>
              </a:rPr>
              <a:t>……</a:t>
            </a:r>
            <a: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  <a:t>คือ </a:t>
            </a:r>
            <a:b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</a:br>
            <a: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  <a:t>บุคคลที่มีหน้าที่</a:t>
            </a:r>
            <a:r>
              <a:rPr lang="th-TH" sz="4000" dirty="0">
                <a:solidFill>
                  <a:srgbClr val="D131FD"/>
                </a:solidFill>
                <a:latin typeface="PSL Kittithada" panose="02020603050405020304" pitchFamily="18" charset="-34"/>
                <a:cs typeface="PSL Kittithada" panose="02020603050405020304" pitchFamily="18" charset="-34"/>
              </a:rPr>
              <a:t>ปกครอง ดูแล แนะนำ มอบหมาย ติดตามงาน สร้างขวัญกำลังใจ ให้คุณ ให้โทษ</a:t>
            </a:r>
            <a: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  <a:t> แก่ลูกน้อง เพื่อให้</a:t>
            </a:r>
            <a:r>
              <a:rPr lang="th-TH" sz="4000" dirty="0">
                <a:solidFill>
                  <a:srgbClr val="00B0F0"/>
                </a:solidFill>
                <a:latin typeface="PSL Kittithada" panose="02020603050405020304" pitchFamily="18" charset="-34"/>
                <a:cs typeface="PSL Kittithada" panose="02020603050405020304" pitchFamily="18" charset="-34"/>
              </a:rPr>
              <a:t>งาน</a:t>
            </a:r>
            <a: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  <a:t>และ</a:t>
            </a:r>
            <a:r>
              <a:rPr lang="th-TH" sz="4000" dirty="0">
                <a:solidFill>
                  <a:srgbClr val="00B0F0"/>
                </a:solidFill>
                <a:latin typeface="PSL Kittithada" panose="02020603050405020304" pitchFamily="18" charset="-34"/>
                <a:cs typeface="PSL Kittithada" panose="02020603050405020304" pitchFamily="18" charset="-34"/>
              </a:rPr>
              <a:t>ลูกน้อง</a:t>
            </a:r>
            <a:r>
              <a:rPr lang="th-TH" sz="4000" dirty="0">
                <a:latin typeface="PSL Kittithada" panose="02020603050405020304" pitchFamily="18" charset="-34"/>
                <a:cs typeface="PSL Kittithada" panose="02020603050405020304" pitchFamily="18" charset="-34"/>
              </a:rPr>
              <a:t>ดำเนินไปอย่างราบรื่นและประสบผลสำเร็จ</a:t>
            </a:r>
            <a:endParaRPr lang="en-US" sz="4000" dirty="0">
              <a:latin typeface="PSL Kittithada" panose="02020603050405020304" pitchFamily="18" charset="-34"/>
              <a:cs typeface="PSL Kittithada" panose="02020603050405020304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07FF-32AA-4FE0-BDDE-2C7FFD89B73F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231742" y="5278236"/>
            <a:ext cx="1438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Freestyle Script" panose="030804020302050B04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78659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2498</TotalTime>
  <Words>8697</Words>
  <Application>Microsoft Office PowerPoint</Application>
  <PresentationFormat>On-screen Show (4:3)</PresentationFormat>
  <Paragraphs>800</Paragraphs>
  <Slides>42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69" baseType="lpstr">
      <vt:lpstr>Meiryo UI</vt:lpstr>
      <vt:lpstr>MS PGothic</vt:lpstr>
      <vt:lpstr>MS PGothic</vt:lpstr>
      <vt:lpstr>游ゴシック</vt:lpstr>
      <vt:lpstr>游ゴシック</vt:lpstr>
      <vt:lpstr>游ゴシック Light</vt:lpstr>
      <vt:lpstr>Angsana New</vt:lpstr>
      <vt:lpstr>AngsanaUPC</vt:lpstr>
      <vt:lpstr>Arial</vt:lpstr>
      <vt:lpstr>Arial Narrow</vt:lpstr>
      <vt:lpstr>Browallia New</vt:lpstr>
      <vt:lpstr>Calibri</vt:lpstr>
      <vt:lpstr>Calibri Light</vt:lpstr>
      <vt:lpstr>Cambria</vt:lpstr>
      <vt:lpstr>Cooper Black</vt:lpstr>
      <vt:lpstr>Cordia New</vt:lpstr>
      <vt:lpstr>Freestyle Script</vt:lpstr>
      <vt:lpstr>Gabriola</vt:lpstr>
      <vt:lpstr>PSL Kittithada</vt:lpstr>
      <vt:lpstr>PSL Methinee</vt:lpstr>
      <vt:lpstr>PSL Omyim</vt:lpstr>
      <vt:lpstr>PSL Script</vt:lpstr>
      <vt:lpstr>PSL ThaiAntique</vt:lpstr>
      <vt:lpstr>Tahoma</vt:lpstr>
      <vt:lpstr>Times New Roman</vt:lpstr>
      <vt:lpstr>Wingdings</vt:lpstr>
      <vt:lpstr>Office Theme</vt:lpstr>
      <vt:lpstr>PowerPoint Presentation</vt:lpstr>
      <vt:lpstr>Agenda</vt:lpstr>
      <vt:lpstr>Agenda</vt:lpstr>
      <vt:lpstr>สรุปความเข้าใจ</vt:lpstr>
      <vt:lpstr>1. Role &amp; Responsibility</vt:lpstr>
      <vt:lpstr>หัวข้อการประเมินผลงานของแคนนอน</vt:lpstr>
      <vt:lpstr>หัวข้อในการประเมินผลงาน “Output”</vt:lpstr>
      <vt:lpstr>หัวข้อในการประเมินผลงาน “Process”</vt:lpstr>
      <vt:lpstr>บทบาทหน้าที่ของหัวหน้างาน</vt:lpstr>
      <vt:lpstr>Agenda</vt:lpstr>
      <vt:lpstr>2. Corporate Culture</vt:lpstr>
      <vt:lpstr>Philosophy “Kyosei”</vt:lpstr>
      <vt:lpstr>PowerPoint Presentation</vt:lpstr>
      <vt:lpstr>PowerPoint Presentation</vt:lpstr>
      <vt:lpstr>PowerPoint Presentation</vt:lpstr>
      <vt:lpstr>PowerPoint Presentation</vt:lpstr>
      <vt:lpstr>Agenda</vt:lpstr>
      <vt:lpstr>Canon Compliance</vt:lpstr>
      <vt:lpstr>1. การปฏิบัติตามกฎหมายและจริยธรรมบริษัท </vt:lpstr>
      <vt:lpstr>2. การควบคุมดูแลทรัพย์สินของบริษัท</vt:lpstr>
      <vt:lpstr>3. การจัดการข้อมูล ข่าวสาร</vt:lpstr>
      <vt:lpstr>4. ความขัดแย้งทางผลประโยชน์/การแบ่งแยกระหว่างเรื่องของบริษัทและเรื่องส่วนตัว</vt:lpstr>
      <vt:lpstr>5. การรักษาและยกระดับสภาพแวดล้อมในสถานที่ทำงาน</vt:lpstr>
      <vt:lpstr>Power Harassment</vt:lpstr>
      <vt:lpstr>ตัวอย่าง 10 พฤติกรรมเสี่ยงผิดอาญา</vt:lpstr>
      <vt:lpstr>Check Point !!!</vt:lpstr>
      <vt:lpstr>Agenda</vt:lpstr>
      <vt:lpstr>4. HO-REN-SO</vt:lpstr>
      <vt:lpstr>อิทธิพลของการสื่อสาร</vt:lpstr>
      <vt:lpstr>Body Language</vt:lpstr>
      <vt:lpstr>ตัวอย่างปัญหาการสื่อสารภายในองค์กร</vt:lpstr>
      <vt:lpstr>แนวทางการสื่อสารระหว่างหัวหน้า &lt;--&gt;ลูกน้อง</vt:lpstr>
      <vt:lpstr>Agenda</vt:lpstr>
      <vt:lpstr>5. Coordination</vt:lpstr>
      <vt:lpstr>ลักษณะของการประสานงานที่ดี</vt:lpstr>
      <vt:lpstr>ปัญหาในการประสานงาน</vt:lpstr>
      <vt:lpstr>หลักการบริหารคน</vt:lpstr>
      <vt:lpstr>Agenda</vt:lpstr>
      <vt:lpstr>6. Sense of ownership</vt:lpstr>
      <vt:lpstr>5 วิธีการพัฒนาจิตสำนึกความเป็นเจ้าของ</vt:lpstr>
      <vt:lpstr>คุณถูกคาดหวังให้มีจิตสำนึกในการเป็นเจ้าของ</vt:lpstr>
      <vt:lpstr>หัวหน้างาน……คือ  บุคคลที่มีหน้าที่ปกครอง ดูแล แนะนำ มอบหมาย ติดตามงาน สร้างขวัญกำลังใจ ให้คุณ ให้โทษ แก่ลูกน้อง เพื่อให้งานและลูกน้องดำเนินไปอย่างราบรื่นและประสบผลสำเร็จ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MRS.SARINRAS AVIRUTDHAKARN</dc:creator>
  <cp:lastModifiedBy>natanong</cp:lastModifiedBy>
  <cp:revision>231</cp:revision>
  <cp:lastPrinted>2026-09-23T11:21:13Z</cp:lastPrinted>
  <dcterms:created xsi:type="dcterms:W3CDTF">2021-09-08T04:25:57Z</dcterms:created>
  <dcterms:modified xsi:type="dcterms:W3CDTF">2026-09-23T11:21:22Z</dcterms:modified>
</cp:coreProperties>
</file>